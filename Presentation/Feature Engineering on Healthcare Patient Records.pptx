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Maven Pro" panose="020B0604020202020204" charset="0"/>
      <p:regular r:id="rId16"/>
      <p:bold r:id="rId17"/>
    </p:embeddedFont>
    <p:embeddedFont>
      <p:font typeface="Nunito" pitchFamily="2" charset="0"/>
      <p:regular r:id="rId18"/>
      <p:bold r:id="rId19"/>
      <p:italic r:id="rId20"/>
      <p:boldItalic r:id="rId21"/>
    </p:embeddedFont>
    <p:embeddedFont>
      <p:font typeface="Urbanist"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E975E43-AA05-4433-BC00-0430138F298D}">
  <a:tblStyle styleId="{9E975E43-AA05-4433-BC00-0430138F298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6" name="Google Shape;316;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3" name="Google Shape;363;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1" name="Google Shape;371;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2" name="Google Shape;38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7" name="Google Shape;397;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5" name="Google Shape;41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grpSp>
        <p:nvGrpSpPr>
          <p:cNvPr id="10" name="Google Shape;10;p2"/>
          <p:cNvGrpSpPr/>
          <p:nvPr/>
        </p:nvGrpSpPr>
        <p:grpSpPr>
          <a:xfrm>
            <a:off x="9790426" y="4546120"/>
            <a:ext cx="2255173" cy="2310006"/>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6724502" y="0"/>
            <a:ext cx="5085303" cy="5118675"/>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1098667" y="2151750"/>
            <a:ext cx="5673900" cy="2497200"/>
          </a:xfrm>
          <a:prstGeom prst="rect">
            <a:avLst/>
          </a:prstGeom>
        </p:spPr>
        <p:txBody>
          <a:bodyPr spcFirstLastPara="1" wrap="square" lIns="121900" tIns="121900" rIns="121900" bIns="121900"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47" name="Google Shape;47;p2"/>
          <p:cNvSpPr txBox="1">
            <a:spLocks noGrp="1"/>
          </p:cNvSpPr>
          <p:nvPr>
            <p:ph type="subTitle" idx="1"/>
          </p:nvPr>
        </p:nvSpPr>
        <p:spPr>
          <a:xfrm>
            <a:off x="1098667" y="4795067"/>
            <a:ext cx="5673900" cy="927300"/>
          </a:xfrm>
          <a:prstGeom prst="rect">
            <a:avLst/>
          </a:prstGeom>
        </p:spPr>
        <p:txBody>
          <a:bodyPr spcFirstLastPara="1" wrap="square" lIns="121900" tIns="121900" rIns="121900" bIns="121900" anchor="t" anchorCtr="0">
            <a:norm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48" name="Google Shape;48;p2"/>
          <p:cNvSpPr txBox="1">
            <a:spLocks noGrp="1"/>
          </p:cNvSpPr>
          <p:nvPr>
            <p:ph type="sldNum" idx="12"/>
          </p:nvPr>
        </p:nvSpPr>
        <p:spPr>
          <a:xfrm>
            <a:off x="11268061" y="6315968"/>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grpSp>
        <p:nvGrpSpPr>
          <p:cNvPr id="50" name="Google Shape;50;p3"/>
          <p:cNvGrpSpPr/>
          <p:nvPr/>
        </p:nvGrpSpPr>
        <p:grpSpPr>
          <a:xfrm>
            <a:off x="195687" y="4541"/>
            <a:ext cx="1644245" cy="1846001"/>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9033219" y="3871914"/>
            <a:ext cx="2914791" cy="2985925"/>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1098667" y="2151767"/>
            <a:ext cx="7810500" cy="2497200"/>
          </a:xfrm>
          <a:prstGeom prst="rect">
            <a:avLst/>
          </a:prstGeom>
        </p:spPr>
        <p:txBody>
          <a:bodyPr spcFirstLastPara="1" wrap="square" lIns="121900" tIns="121900" rIns="121900" bIns="121900"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83" name="Google Shape;83;p3"/>
          <p:cNvSpPr txBox="1">
            <a:spLocks noGrp="1"/>
          </p:cNvSpPr>
          <p:nvPr>
            <p:ph type="sldNum" idx="12"/>
          </p:nvPr>
        </p:nvSpPr>
        <p:spPr>
          <a:xfrm>
            <a:off x="11268061" y="6315968"/>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834621" y="399168"/>
            <a:ext cx="1332416" cy="1332416"/>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738400" y="798100"/>
            <a:ext cx="9374100" cy="13323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89" name="Google Shape;89;p4"/>
          <p:cNvSpPr txBox="1">
            <a:spLocks noGrp="1"/>
          </p:cNvSpPr>
          <p:nvPr>
            <p:ph type="body" idx="1"/>
          </p:nvPr>
        </p:nvSpPr>
        <p:spPr>
          <a:xfrm>
            <a:off x="1738400" y="2653400"/>
            <a:ext cx="9374100" cy="33888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90" name="Google Shape;90;p4"/>
          <p:cNvSpPr txBox="1">
            <a:spLocks noGrp="1"/>
          </p:cNvSpPr>
          <p:nvPr>
            <p:ph type="sldNum" idx="12"/>
          </p:nvPr>
        </p:nvSpPr>
        <p:spPr>
          <a:xfrm>
            <a:off x="11268061" y="6315968"/>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834621" y="399168"/>
            <a:ext cx="1332416" cy="1332416"/>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738400" y="798100"/>
            <a:ext cx="9374100" cy="13323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96" name="Google Shape;96;p5"/>
          <p:cNvSpPr txBox="1">
            <a:spLocks noGrp="1"/>
          </p:cNvSpPr>
          <p:nvPr>
            <p:ph type="body" idx="1"/>
          </p:nvPr>
        </p:nvSpPr>
        <p:spPr>
          <a:xfrm>
            <a:off x="1738400" y="2653400"/>
            <a:ext cx="4574100" cy="33888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97" name="Google Shape;97;p5"/>
          <p:cNvSpPr txBox="1">
            <a:spLocks noGrp="1"/>
          </p:cNvSpPr>
          <p:nvPr>
            <p:ph type="body" idx="2"/>
          </p:nvPr>
        </p:nvSpPr>
        <p:spPr>
          <a:xfrm>
            <a:off x="6538200" y="2653400"/>
            <a:ext cx="4574100" cy="33888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98" name="Google Shape;98;p5"/>
          <p:cNvSpPr txBox="1">
            <a:spLocks noGrp="1"/>
          </p:cNvSpPr>
          <p:nvPr>
            <p:ph type="sldNum" idx="12"/>
          </p:nvPr>
        </p:nvSpPr>
        <p:spPr>
          <a:xfrm>
            <a:off x="11268061" y="6315968"/>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834621" y="399168"/>
            <a:ext cx="1332416" cy="1332416"/>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738400" y="798100"/>
            <a:ext cx="9374100" cy="13323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04" name="Google Shape;104;p6"/>
          <p:cNvSpPr txBox="1">
            <a:spLocks noGrp="1"/>
          </p:cNvSpPr>
          <p:nvPr>
            <p:ph type="sldNum" idx="12"/>
          </p:nvPr>
        </p:nvSpPr>
        <p:spPr>
          <a:xfrm>
            <a:off x="11268061" y="6315968"/>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834621" y="399168"/>
            <a:ext cx="1332416" cy="1332416"/>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738400" y="798100"/>
            <a:ext cx="4416000" cy="21201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10" name="Google Shape;110;p7"/>
          <p:cNvSpPr txBox="1">
            <a:spLocks noGrp="1"/>
          </p:cNvSpPr>
          <p:nvPr>
            <p:ph type="body" idx="1"/>
          </p:nvPr>
        </p:nvSpPr>
        <p:spPr>
          <a:xfrm>
            <a:off x="1738400" y="3079567"/>
            <a:ext cx="4416000" cy="29625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111" name="Google Shape;111;p7"/>
          <p:cNvSpPr txBox="1">
            <a:spLocks noGrp="1"/>
          </p:cNvSpPr>
          <p:nvPr>
            <p:ph type="sldNum" idx="12"/>
          </p:nvPr>
        </p:nvSpPr>
        <p:spPr>
          <a:xfrm>
            <a:off x="11268061" y="6315968"/>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2"/>
        <p:cNvGrpSpPr/>
        <p:nvPr/>
      </p:nvGrpSpPr>
      <p:grpSpPr>
        <a:xfrm>
          <a:off x="0" y="0"/>
          <a:ext cx="0" cy="0"/>
          <a:chOff x="0" y="0"/>
          <a:chExt cx="0" cy="0"/>
        </a:xfrm>
      </p:grpSpPr>
      <p:grpSp>
        <p:nvGrpSpPr>
          <p:cNvPr id="113" name="Google Shape;113;p8"/>
          <p:cNvGrpSpPr/>
          <p:nvPr/>
        </p:nvGrpSpPr>
        <p:grpSpPr>
          <a:xfrm>
            <a:off x="9155392" y="1742"/>
            <a:ext cx="3023192" cy="3468833"/>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1098667" y="1018133"/>
            <a:ext cx="7810500" cy="4764300"/>
          </a:xfrm>
          <a:prstGeom prst="rect">
            <a:avLst/>
          </a:prstGeom>
        </p:spPr>
        <p:txBody>
          <a:bodyPr spcFirstLastPara="1" wrap="square" lIns="121900" tIns="121900" rIns="121900" bIns="121900"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6" name="Google Shape;126;p8"/>
          <p:cNvSpPr txBox="1">
            <a:spLocks noGrp="1"/>
          </p:cNvSpPr>
          <p:nvPr>
            <p:ph type="sldNum" idx="12"/>
          </p:nvPr>
        </p:nvSpPr>
        <p:spPr>
          <a:xfrm>
            <a:off x="11268061" y="6315968"/>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834621" y="399168"/>
            <a:ext cx="1332416" cy="1332416"/>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738400" y="798100"/>
            <a:ext cx="4574100" cy="2653500"/>
          </a:xfrm>
          <a:prstGeom prst="rect">
            <a:avLst/>
          </a:prstGeom>
          <a:ln w="9525" cap="flat" cmpd="sng">
            <a:solidFill>
              <a:schemeClr val="lt1"/>
            </a:solidFill>
            <a:prstDash val="solid"/>
            <a:round/>
            <a:headEnd type="none" w="sm" len="sm"/>
            <a:tailEnd type="none" w="sm" len="sm"/>
          </a:ln>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32" name="Google Shape;132;p9"/>
          <p:cNvSpPr txBox="1">
            <a:spLocks noGrp="1"/>
          </p:cNvSpPr>
          <p:nvPr>
            <p:ph type="subTitle" idx="1"/>
          </p:nvPr>
        </p:nvSpPr>
        <p:spPr>
          <a:xfrm>
            <a:off x="1738400" y="3657604"/>
            <a:ext cx="4574100" cy="968100"/>
          </a:xfrm>
          <a:prstGeom prst="rect">
            <a:avLst/>
          </a:prstGeom>
          <a:ln w="9525" cap="flat" cmpd="sng">
            <a:solidFill>
              <a:schemeClr val="lt1"/>
            </a:solidFill>
            <a:prstDash val="solid"/>
            <a:round/>
            <a:headEnd type="none" w="sm" len="sm"/>
            <a:tailEnd type="none" w="sm" len="sm"/>
          </a:ln>
        </p:spPr>
        <p:txBody>
          <a:bodyPr spcFirstLastPara="1" wrap="square" lIns="121900" tIns="121900" rIns="121900" bIns="121900" anchor="t" anchorCtr="0">
            <a:normAutofit/>
          </a:bodyPr>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a:endParaRPr/>
          </a:p>
        </p:txBody>
      </p:sp>
      <p:sp>
        <p:nvSpPr>
          <p:cNvPr id="133" name="Google Shape;133;p9"/>
          <p:cNvSpPr txBox="1">
            <a:spLocks noGrp="1"/>
          </p:cNvSpPr>
          <p:nvPr>
            <p:ph type="body" idx="2"/>
          </p:nvPr>
        </p:nvSpPr>
        <p:spPr>
          <a:xfrm>
            <a:off x="6538267" y="881333"/>
            <a:ext cx="4574100" cy="5160900"/>
          </a:xfrm>
          <a:prstGeom prst="rect">
            <a:avLst/>
          </a:prstGeom>
          <a:ln w="9525" cap="flat" cmpd="sng">
            <a:solidFill>
              <a:schemeClr val="lt1"/>
            </a:solidFill>
            <a:prstDash val="solid"/>
            <a:round/>
            <a:headEnd type="none" w="sm" len="sm"/>
            <a:tailEnd type="none" w="sm" len="sm"/>
          </a:ln>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a:endParaRPr/>
          </a:p>
        </p:txBody>
      </p:sp>
      <p:sp>
        <p:nvSpPr>
          <p:cNvPr id="134" name="Google Shape;134;p9"/>
          <p:cNvSpPr txBox="1">
            <a:spLocks noGrp="1"/>
          </p:cNvSpPr>
          <p:nvPr>
            <p:ph type="sldNum" idx="12"/>
          </p:nvPr>
        </p:nvSpPr>
        <p:spPr>
          <a:xfrm>
            <a:off x="11268061" y="6315968"/>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951176" y="5129497"/>
            <a:ext cx="1100560" cy="1100560"/>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738400" y="5518633"/>
            <a:ext cx="7790700" cy="713100"/>
          </a:xfrm>
          <a:prstGeom prst="rect">
            <a:avLst/>
          </a:prstGeom>
        </p:spPr>
        <p:txBody>
          <a:bodyPr spcFirstLastPara="1" wrap="square" lIns="121900" tIns="121900" rIns="121900" bIns="121900" anchor="t" anchorCtr="0">
            <a:normAutofit/>
          </a:bodyPr>
          <a:lstStyle>
            <a:lvl1pPr marL="457200" lvl="0" indent="-228600">
              <a:lnSpc>
                <a:spcPct val="100000"/>
              </a:lnSpc>
              <a:spcBef>
                <a:spcPts val="0"/>
              </a:spcBef>
              <a:spcAft>
                <a:spcPts val="0"/>
              </a:spcAft>
              <a:buSzPts val="1700"/>
              <a:buNone/>
              <a:defRPr/>
            </a:lvl1pPr>
          </a:lstStyle>
          <a:p>
            <a:endParaRPr/>
          </a:p>
        </p:txBody>
      </p:sp>
      <p:sp>
        <p:nvSpPr>
          <p:cNvPr id="140" name="Google Shape;140;p10"/>
          <p:cNvSpPr txBox="1">
            <a:spLocks noGrp="1"/>
          </p:cNvSpPr>
          <p:nvPr>
            <p:ph type="sldNum" idx="12"/>
          </p:nvPr>
        </p:nvSpPr>
        <p:spPr>
          <a:xfrm>
            <a:off x="11268061" y="6315968"/>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41"/>
        <p:cNvGrpSpPr/>
        <p:nvPr/>
      </p:nvGrpSpPr>
      <p:grpSpPr>
        <a:xfrm>
          <a:off x="0" y="0"/>
          <a:ext cx="0" cy="0"/>
          <a:chOff x="0" y="0"/>
          <a:chExt cx="0" cy="0"/>
        </a:xfrm>
      </p:grpSpPr>
      <p:grpSp>
        <p:nvGrpSpPr>
          <p:cNvPr id="142" name="Google Shape;142;p11"/>
          <p:cNvGrpSpPr/>
          <p:nvPr/>
        </p:nvGrpSpPr>
        <p:grpSpPr>
          <a:xfrm>
            <a:off x="69" y="5465463"/>
            <a:ext cx="12191743" cy="1392365"/>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851500" y="1030300"/>
            <a:ext cx="8489100" cy="2484300"/>
          </a:xfrm>
          <a:prstGeom prst="rect">
            <a:avLst/>
          </a:prstGeom>
        </p:spPr>
        <p:txBody>
          <a:bodyPr spcFirstLastPara="1" wrap="square" lIns="121900" tIns="121900" rIns="121900" bIns="121900" anchor="ctr" anchorCtr="0">
            <a:normAutofit/>
          </a:bodyPr>
          <a:lstStyle>
            <a:lvl1pPr lvl="0" algn="ctr">
              <a:spcBef>
                <a:spcPts val="0"/>
              </a:spcBef>
              <a:spcAft>
                <a:spcPts val="0"/>
              </a:spcAft>
              <a:buClr>
                <a:schemeClr val="lt1"/>
              </a:buClr>
              <a:buSzPts val="10700"/>
              <a:buNone/>
              <a:defRPr sz="10700">
                <a:solidFill>
                  <a:schemeClr val="lt1"/>
                </a:solidFill>
              </a:defRPr>
            </a:lvl1pPr>
            <a:lvl2pPr lvl="1" algn="ctr">
              <a:spcBef>
                <a:spcPts val="0"/>
              </a:spcBef>
              <a:spcAft>
                <a:spcPts val="0"/>
              </a:spcAft>
              <a:buClr>
                <a:schemeClr val="lt1"/>
              </a:buClr>
              <a:buSzPts val="10700"/>
              <a:buNone/>
              <a:defRPr sz="10700">
                <a:solidFill>
                  <a:schemeClr val="lt1"/>
                </a:solidFill>
              </a:defRPr>
            </a:lvl2pPr>
            <a:lvl3pPr lvl="2" algn="ctr">
              <a:spcBef>
                <a:spcPts val="0"/>
              </a:spcBef>
              <a:spcAft>
                <a:spcPts val="0"/>
              </a:spcAft>
              <a:buClr>
                <a:schemeClr val="lt1"/>
              </a:buClr>
              <a:buSzPts val="10700"/>
              <a:buNone/>
              <a:defRPr sz="10700">
                <a:solidFill>
                  <a:schemeClr val="lt1"/>
                </a:solidFill>
              </a:defRPr>
            </a:lvl3pPr>
            <a:lvl4pPr lvl="3" algn="ctr">
              <a:spcBef>
                <a:spcPts val="0"/>
              </a:spcBef>
              <a:spcAft>
                <a:spcPts val="0"/>
              </a:spcAft>
              <a:buClr>
                <a:schemeClr val="lt1"/>
              </a:buClr>
              <a:buSzPts val="10700"/>
              <a:buNone/>
              <a:defRPr sz="10700">
                <a:solidFill>
                  <a:schemeClr val="lt1"/>
                </a:solidFill>
              </a:defRPr>
            </a:lvl4pPr>
            <a:lvl5pPr lvl="4" algn="ctr">
              <a:spcBef>
                <a:spcPts val="0"/>
              </a:spcBef>
              <a:spcAft>
                <a:spcPts val="0"/>
              </a:spcAft>
              <a:buClr>
                <a:schemeClr val="lt1"/>
              </a:buClr>
              <a:buSzPts val="10700"/>
              <a:buNone/>
              <a:defRPr sz="10700">
                <a:solidFill>
                  <a:schemeClr val="lt1"/>
                </a:solidFill>
              </a:defRPr>
            </a:lvl5pPr>
            <a:lvl6pPr lvl="5" algn="ctr">
              <a:spcBef>
                <a:spcPts val="0"/>
              </a:spcBef>
              <a:spcAft>
                <a:spcPts val="0"/>
              </a:spcAft>
              <a:buClr>
                <a:schemeClr val="lt1"/>
              </a:buClr>
              <a:buSzPts val="10700"/>
              <a:buNone/>
              <a:defRPr sz="10700">
                <a:solidFill>
                  <a:schemeClr val="lt1"/>
                </a:solidFill>
              </a:defRPr>
            </a:lvl6pPr>
            <a:lvl7pPr lvl="6" algn="ctr">
              <a:spcBef>
                <a:spcPts val="0"/>
              </a:spcBef>
              <a:spcAft>
                <a:spcPts val="0"/>
              </a:spcAft>
              <a:buClr>
                <a:schemeClr val="lt1"/>
              </a:buClr>
              <a:buSzPts val="10700"/>
              <a:buNone/>
              <a:defRPr sz="10700">
                <a:solidFill>
                  <a:schemeClr val="lt1"/>
                </a:solidFill>
              </a:defRPr>
            </a:lvl7pPr>
            <a:lvl8pPr lvl="7" algn="ctr">
              <a:spcBef>
                <a:spcPts val="0"/>
              </a:spcBef>
              <a:spcAft>
                <a:spcPts val="0"/>
              </a:spcAft>
              <a:buClr>
                <a:schemeClr val="lt1"/>
              </a:buClr>
              <a:buSzPts val="10700"/>
              <a:buNone/>
              <a:defRPr sz="10700">
                <a:solidFill>
                  <a:schemeClr val="lt1"/>
                </a:solidFill>
              </a:defRPr>
            </a:lvl8pPr>
            <a:lvl9pPr lvl="8" algn="ctr">
              <a:spcBef>
                <a:spcPts val="0"/>
              </a:spcBef>
              <a:spcAft>
                <a:spcPts val="0"/>
              </a:spcAft>
              <a:buClr>
                <a:schemeClr val="lt1"/>
              </a:buClr>
              <a:buSzPts val="10700"/>
              <a:buNone/>
              <a:defRPr sz="10700">
                <a:solidFill>
                  <a:schemeClr val="lt1"/>
                </a:solidFill>
              </a:defRPr>
            </a:lvl9pPr>
          </a:lstStyle>
          <a:p>
            <a:r>
              <a:t>xx%</a:t>
            </a:r>
          </a:p>
        </p:txBody>
      </p:sp>
      <p:sp>
        <p:nvSpPr>
          <p:cNvPr id="269" name="Google Shape;269;p11"/>
          <p:cNvSpPr txBox="1">
            <a:spLocks noGrp="1"/>
          </p:cNvSpPr>
          <p:nvPr>
            <p:ph type="body" idx="1"/>
          </p:nvPr>
        </p:nvSpPr>
        <p:spPr>
          <a:xfrm>
            <a:off x="1851500" y="3616400"/>
            <a:ext cx="8489100" cy="1481700"/>
          </a:xfrm>
          <a:prstGeom prst="rect">
            <a:avLst/>
          </a:prstGeom>
        </p:spPr>
        <p:txBody>
          <a:bodyPr spcFirstLastPara="1" wrap="square" lIns="121900" tIns="121900" rIns="121900" bIns="121900" anchor="t" anchorCtr="0">
            <a:normAutofit/>
          </a:bodyPr>
          <a:lstStyle>
            <a:lvl1pPr marL="457200" lvl="0" indent="-336550" algn="ctr">
              <a:spcBef>
                <a:spcPts val="0"/>
              </a:spcBef>
              <a:spcAft>
                <a:spcPts val="0"/>
              </a:spcAft>
              <a:buClr>
                <a:schemeClr val="lt1"/>
              </a:buClr>
              <a:buSzPts val="1700"/>
              <a:buChar char="●"/>
              <a:defRPr>
                <a:solidFill>
                  <a:schemeClr val="lt1"/>
                </a:solidFill>
              </a:defRPr>
            </a:lvl1pPr>
            <a:lvl2pPr marL="914400" lvl="1" indent="-323850" algn="ctr">
              <a:spcBef>
                <a:spcPts val="0"/>
              </a:spcBef>
              <a:spcAft>
                <a:spcPts val="0"/>
              </a:spcAft>
              <a:buClr>
                <a:schemeClr val="lt1"/>
              </a:buClr>
              <a:buSzPts val="1500"/>
              <a:buChar char="○"/>
              <a:defRPr>
                <a:solidFill>
                  <a:schemeClr val="lt1"/>
                </a:solidFill>
              </a:defRPr>
            </a:lvl2pPr>
            <a:lvl3pPr marL="1371600" lvl="2" indent="-323850" algn="ctr">
              <a:spcBef>
                <a:spcPts val="0"/>
              </a:spcBef>
              <a:spcAft>
                <a:spcPts val="0"/>
              </a:spcAft>
              <a:buClr>
                <a:schemeClr val="lt1"/>
              </a:buClr>
              <a:buSzPts val="1500"/>
              <a:buChar char="■"/>
              <a:defRPr>
                <a:solidFill>
                  <a:schemeClr val="lt1"/>
                </a:solidFill>
              </a:defRPr>
            </a:lvl3pPr>
            <a:lvl4pPr marL="1828800" lvl="3" indent="-323850" algn="ctr">
              <a:spcBef>
                <a:spcPts val="0"/>
              </a:spcBef>
              <a:spcAft>
                <a:spcPts val="0"/>
              </a:spcAft>
              <a:buClr>
                <a:schemeClr val="lt1"/>
              </a:buClr>
              <a:buSzPts val="1500"/>
              <a:buChar char="●"/>
              <a:defRPr>
                <a:solidFill>
                  <a:schemeClr val="lt1"/>
                </a:solidFill>
              </a:defRPr>
            </a:lvl4pPr>
            <a:lvl5pPr marL="2286000" lvl="4" indent="-323850" algn="ctr">
              <a:spcBef>
                <a:spcPts val="0"/>
              </a:spcBef>
              <a:spcAft>
                <a:spcPts val="0"/>
              </a:spcAft>
              <a:buClr>
                <a:schemeClr val="lt1"/>
              </a:buClr>
              <a:buSzPts val="1500"/>
              <a:buChar char="○"/>
              <a:defRPr>
                <a:solidFill>
                  <a:schemeClr val="lt1"/>
                </a:solidFill>
              </a:defRPr>
            </a:lvl5pPr>
            <a:lvl6pPr marL="2743200" lvl="5" indent="-323850" algn="ctr">
              <a:spcBef>
                <a:spcPts val="0"/>
              </a:spcBef>
              <a:spcAft>
                <a:spcPts val="0"/>
              </a:spcAft>
              <a:buClr>
                <a:schemeClr val="lt1"/>
              </a:buClr>
              <a:buSzPts val="1500"/>
              <a:buChar char="■"/>
              <a:defRPr>
                <a:solidFill>
                  <a:schemeClr val="lt1"/>
                </a:solidFill>
              </a:defRPr>
            </a:lvl6pPr>
            <a:lvl7pPr marL="3200400" lvl="6" indent="-323850" algn="ctr">
              <a:spcBef>
                <a:spcPts val="0"/>
              </a:spcBef>
              <a:spcAft>
                <a:spcPts val="0"/>
              </a:spcAft>
              <a:buClr>
                <a:schemeClr val="lt1"/>
              </a:buClr>
              <a:buSzPts val="1500"/>
              <a:buChar char="●"/>
              <a:defRPr>
                <a:solidFill>
                  <a:schemeClr val="lt1"/>
                </a:solidFill>
              </a:defRPr>
            </a:lvl7pPr>
            <a:lvl8pPr marL="3657600" lvl="7" indent="-323850" algn="ctr">
              <a:spcBef>
                <a:spcPts val="0"/>
              </a:spcBef>
              <a:spcAft>
                <a:spcPts val="0"/>
              </a:spcAft>
              <a:buClr>
                <a:schemeClr val="lt1"/>
              </a:buClr>
              <a:buSzPts val="1500"/>
              <a:buChar char="○"/>
              <a:defRPr>
                <a:solidFill>
                  <a:schemeClr val="lt1"/>
                </a:solidFill>
              </a:defRPr>
            </a:lvl8pPr>
            <a:lvl9pPr marL="4114800" lvl="8" indent="-323850" algn="ctr">
              <a:spcBef>
                <a:spcPts val="0"/>
              </a:spcBef>
              <a:spcAft>
                <a:spcPts val="0"/>
              </a:spcAft>
              <a:buClr>
                <a:schemeClr val="lt1"/>
              </a:buClr>
              <a:buSzPts val="1500"/>
              <a:buChar char="■"/>
              <a:defRPr>
                <a:solidFill>
                  <a:schemeClr val="lt1"/>
                </a:solidFill>
              </a:defRPr>
            </a:lvl9pPr>
          </a:lstStyle>
          <a:p>
            <a:endParaRPr/>
          </a:p>
        </p:txBody>
      </p:sp>
      <p:sp>
        <p:nvSpPr>
          <p:cNvPr id="270" name="Google Shape;270;p11"/>
          <p:cNvSpPr txBox="1">
            <a:spLocks noGrp="1"/>
          </p:cNvSpPr>
          <p:nvPr>
            <p:ph type="sldNum" idx="12"/>
          </p:nvPr>
        </p:nvSpPr>
        <p:spPr>
          <a:xfrm>
            <a:off x="11268061" y="6315968"/>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11268061" y="6315968"/>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2"/>
              </a:buClr>
              <a:buSzPts val="3700"/>
              <a:buFont typeface="Maven Pro"/>
              <a:buNone/>
              <a:defRPr sz="3700" b="1">
                <a:solidFill>
                  <a:schemeClr val="dk2"/>
                </a:solidFill>
                <a:latin typeface="Maven Pro"/>
                <a:ea typeface="Maven Pro"/>
                <a:cs typeface="Maven Pro"/>
                <a:sym typeface="Maven Pro"/>
              </a:defRPr>
            </a:lvl1pPr>
            <a:lvl2pPr lvl="1">
              <a:spcBef>
                <a:spcPts val="0"/>
              </a:spcBef>
              <a:spcAft>
                <a:spcPts val="0"/>
              </a:spcAft>
              <a:buClr>
                <a:schemeClr val="dk2"/>
              </a:buClr>
              <a:buSzPts val="3700"/>
              <a:buFont typeface="Maven Pro"/>
              <a:buNone/>
              <a:defRPr sz="3700" b="1">
                <a:solidFill>
                  <a:schemeClr val="dk2"/>
                </a:solidFill>
                <a:latin typeface="Maven Pro"/>
                <a:ea typeface="Maven Pro"/>
                <a:cs typeface="Maven Pro"/>
                <a:sym typeface="Maven Pro"/>
              </a:defRPr>
            </a:lvl2pPr>
            <a:lvl3pPr lvl="2">
              <a:spcBef>
                <a:spcPts val="0"/>
              </a:spcBef>
              <a:spcAft>
                <a:spcPts val="0"/>
              </a:spcAft>
              <a:buClr>
                <a:schemeClr val="dk2"/>
              </a:buClr>
              <a:buSzPts val="3700"/>
              <a:buFont typeface="Maven Pro"/>
              <a:buNone/>
              <a:defRPr sz="3700" b="1">
                <a:solidFill>
                  <a:schemeClr val="dk2"/>
                </a:solidFill>
                <a:latin typeface="Maven Pro"/>
                <a:ea typeface="Maven Pro"/>
                <a:cs typeface="Maven Pro"/>
                <a:sym typeface="Maven Pro"/>
              </a:defRPr>
            </a:lvl3pPr>
            <a:lvl4pPr lvl="3">
              <a:spcBef>
                <a:spcPts val="0"/>
              </a:spcBef>
              <a:spcAft>
                <a:spcPts val="0"/>
              </a:spcAft>
              <a:buClr>
                <a:schemeClr val="dk2"/>
              </a:buClr>
              <a:buSzPts val="3700"/>
              <a:buFont typeface="Maven Pro"/>
              <a:buNone/>
              <a:defRPr sz="3700" b="1">
                <a:solidFill>
                  <a:schemeClr val="dk2"/>
                </a:solidFill>
                <a:latin typeface="Maven Pro"/>
                <a:ea typeface="Maven Pro"/>
                <a:cs typeface="Maven Pro"/>
                <a:sym typeface="Maven Pro"/>
              </a:defRPr>
            </a:lvl4pPr>
            <a:lvl5pPr lvl="4">
              <a:spcBef>
                <a:spcPts val="0"/>
              </a:spcBef>
              <a:spcAft>
                <a:spcPts val="0"/>
              </a:spcAft>
              <a:buClr>
                <a:schemeClr val="dk2"/>
              </a:buClr>
              <a:buSzPts val="3700"/>
              <a:buFont typeface="Maven Pro"/>
              <a:buNone/>
              <a:defRPr sz="3700" b="1">
                <a:solidFill>
                  <a:schemeClr val="dk2"/>
                </a:solidFill>
                <a:latin typeface="Maven Pro"/>
                <a:ea typeface="Maven Pro"/>
                <a:cs typeface="Maven Pro"/>
                <a:sym typeface="Maven Pro"/>
              </a:defRPr>
            </a:lvl5pPr>
            <a:lvl6pPr lvl="5">
              <a:spcBef>
                <a:spcPts val="0"/>
              </a:spcBef>
              <a:spcAft>
                <a:spcPts val="0"/>
              </a:spcAft>
              <a:buClr>
                <a:schemeClr val="dk2"/>
              </a:buClr>
              <a:buSzPts val="3700"/>
              <a:buFont typeface="Maven Pro"/>
              <a:buNone/>
              <a:defRPr sz="3700" b="1">
                <a:solidFill>
                  <a:schemeClr val="dk2"/>
                </a:solidFill>
                <a:latin typeface="Maven Pro"/>
                <a:ea typeface="Maven Pro"/>
                <a:cs typeface="Maven Pro"/>
                <a:sym typeface="Maven Pro"/>
              </a:defRPr>
            </a:lvl6pPr>
            <a:lvl7pPr lvl="6">
              <a:spcBef>
                <a:spcPts val="0"/>
              </a:spcBef>
              <a:spcAft>
                <a:spcPts val="0"/>
              </a:spcAft>
              <a:buClr>
                <a:schemeClr val="dk2"/>
              </a:buClr>
              <a:buSzPts val="3700"/>
              <a:buFont typeface="Maven Pro"/>
              <a:buNone/>
              <a:defRPr sz="3700" b="1">
                <a:solidFill>
                  <a:schemeClr val="dk2"/>
                </a:solidFill>
                <a:latin typeface="Maven Pro"/>
                <a:ea typeface="Maven Pro"/>
                <a:cs typeface="Maven Pro"/>
                <a:sym typeface="Maven Pro"/>
              </a:defRPr>
            </a:lvl7pPr>
            <a:lvl8pPr lvl="7">
              <a:spcBef>
                <a:spcPts val="0"/>
              </a:spcBef>
              <a:spcAft>
                <a:spcPts val="0"/>
              </a:spcAft>
              <a:buClr>
                <a:schemeClr val="dk2"/>
              </a:buClr>
              <a:buSzPts val="3700"/>
              <a:buFont typeface="Maven Pro"/>
              <a:buNone/>
              <a:defRPr sz="3700" b="1">
                <a:solidFill>
                  <a:schemeClr val="dk2"/>
                </a:solidFill>
                <a:latin typeface="Maven Pro"/>
                <a:ea typeface="Maven Pro"/>
                <a:cs typeface="Maven Pro"/>
                <a:sym typeface="Maven Pro"/>
              </a:defRPr>
            </a:lvl8pPr>
            <a:lvl9pPr lvl="8">
              <a:spcBef>
                <a:spcPts val="0"/>
              </a:spcBef>
              <a:spcAft>
                <a:spcPts val="0"/>
              </a:spcAft>
              <a:buClr>
                <a:schemeClr val="dk2"/>
              </a:buClr>
              <a:buSzPts val="3700"/>
              <a:buFont typeface="Maven Pro"/>
              <a:buNone/>
              <a:defRPr sz="37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36550">
              <a:lnSpc>
                <a:spcPct val="115000"/>
              </a:lnSpc>
              <a:spcBef>
                <a:spcPts val="0"/>
              </a:spcBef>
              <a:spcAft>
                <a:spcPts val="0"/>
              </a:spcAft>
              <a:buClr>
                <a:schemeClr val="dk2"/>
              </a:buClr>
              <a:buSzPts val="1700"/>
              <a:buFont typeface="Nunito"/>
              <a:buChar char="●"/>
              <a:defRPr sz="1700">
                <a:solidFill>
                  <a:schemeClr val="dk2"/>
                </a:solidFill>
                <a:latin typeface="Nunito"/>
                <a:ea typeface="Nunito"/>
                <a:cs typeface="Nunito"/>
                <a:sym typeface="Nunito"/>
              </a:defRPr>
            </a:lvl1pPr>
            <a:lvl2pPr marL="914400" lvl="1" indent="-32385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2pPr>
            <a:lvl3pPr marL="1371600" lvl="2" indent="-32385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3pPr>
            <a:lvl4pPr marL="1828800" lvl="3" indent="-32385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4pPr>
            <a:lvl5pPr marL="2286000" lvl="4" indent="-32385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5pPr>
            <a:lvl6pPr marL="2743200" lvl="5" indent="-32385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6pPr>
            <a:lvl7pPr marL="3200400" lvl="6" indent="-32385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7pPr>
            <a:lvl8pPr marL="3657600" lvl="7" indent="-32385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8pPr>
            <a:lvl9pPr marL="4114800" lvl="8" indent="-32385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11268061" y="6315968"/>
            <a:ext cx="731700" cy="524700"/>
          </a:xfrm>
          <a:prstGeom prst="rect">
            <a:avLst/>
          </a:prstGeom>
          <a:noFill/>
          <a:ln>
            <a:noFill/>
          </a:ln>
        </p:spPr>
        <p:txBody>
          <a:bodyPr spcFirstLastPara="1" wrap="square" lIns="121900" tIns="121900" rIns="121900" bIns="121900" anchor="ctr" anchorCtr="0">
            <a:normAutofit/>
          </a:bodyPr>
          <a:lstStyle>
            <a:lvl1pPr lvl="0" algn="r">
              <a:buNone/>
              <a:defRPr sz="1200">
                <a:solidFill>
                  <a:schemeClr val="dk2"/>
                </a:solidFill>
                <a:latin typeface="Nunito"/>
                <a:ea typeface="Nunito"/>
                <a:cs typeface="Nunito"/>
                <a:sym typeface="Nunito"/>
              </a:defRPr>
            </a:lvl1pPr>
            <a:lvl2pPr lvl="1" algn="r">
              <a:buNone/>
              <a:defRPr sz="1200">
                <a:solidFill>
                  <a:schemeClr val="dk2"/>
                </a:solidFill>
                <a:latin typeface="Nunito"/>
                <a:ea typeface="Nunito"/>
                <a:cs typeface="Nunito"/>
                <a:sym typeface="Nunito"/>
              </a:defRPr>
            </a:lvl2pPr>
            <a:lvl3pPr lvl="2" algn="r">
              <a:buNone/>
              <a:defRPr sz="1200">
                <a:solidFill>
                  <a:schemeClr val="dk2"/>
                </a:solidFill>
                <a:latin typeface="Nunito"/>
                <a:ea typeface="Nunito"/>
                <a:cs typeface="Nunito"/>
                <a:sym typeface="Nunito"/>
              </a:defRPr>
            </a:lvl3pPr>
            <a:lvl4pPr lvl="3" algn="r">
              <a:buNone/>
              <a:defRPr sz="1200">
                <a:solidFill>
                  <a:schemeClr val="dk2"/>
                </a:solidFill>
                <a:latin typeface="Nunito"/>
                <a:ea typeface="Nunito"/>
                <a:cs typeface="Nunito"/>
                <a:sym typeface="Nunito"/>
              </a:defRPr>
            </a:lvl4pPr>
            <a:lvl5pPr lvl="4" algn="r">
              <a:buNone/>
              <a:defRPr sz="1200">
                <a:solidFill>
                  <a:schemeClr val="dk2"/>
                </a:solidFill>
                <a:latin typeface="Nunito"/>
                <a:ea typeface="Nunito"/>
                <a:cs typeface="Nunito"/>
                <a:sym typeface="Nunito"/>
              </a:defRPr>
            </a:lvl5pPr>
            <a:lvl6pPr lvl="5" algn="r">
              <a:buNone/>
              <a:defRPr sz="1200">
                <a:solidFill>
                  <a:schemeClr val="dk2"/>
                </a:solidFill>
                <a:latin typeface="Nunito"/>
                <a:ea typeface="Nunito"/>
                <a:cs typeface="Nunito"/>
                <a:sym typeface="Nunito"/>
              </a:defRPr>
            </a:lvl6pPr>
            <a:lvl7pPr lvl="6" algn="r">
              <a:buNone/>
              <a:defRPr sz="1200">
                <a:solidFill>
                  <a:schemeClr val="dk2"/>
                </a:solidFill>
                <a:latin typeface="Nunito"/>
                <a:ea typeface="Nunito"/>
                <a:cs typeface="Nunito"/>
                <a:sym typeface="Nunito"/>
              </a:defRPr>
            </a:lvl7pPr>
            <a:lvl8pPr lvl="7" algn="r">
              <a:buNone/>
              <a:defRPr sz="1200">
                <a:solidFill>
                  <a:schemeClr val="dk2"/>
                </a:solidFill>
                <a:latin typeface="Nunito"/>
                <a:ea typeface="Nunito"/>
                <a:cs typeface="Nunito"/>
                <a:sym typeface="Nunito"/>
              </a:defRPr>
            </a:lvl8pPr>
            <a:lvl9pPr lvl="8" algn="r">
              <a:buNone/>
              <a:defRPr sz="12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p:nvPr/>
        </p:nvSpPr>
        <p:spPr>
          <a:xfrm>
            <a:off x="2210514" y="2324100"/>
            <a:ext cx="7770900" cy="738900"/>
          </a:xfrm>
          <a:prstGeom prst="rect">
            <a:avLst/>
          </a:prstGeom>
          <a:noFill/>
          <a:ln>
            <a:noFill/>
          </a:ln>
        </p:spPr>
        <p:txBody>
          <a:bodyPr spcFirstLastPara="1" wrap="square" lIns="0" tIns="0" rIns="0" bIns="0" anchor="t" anchorCtr="0">
            <a:spAutoFit/>
          </a:bodyPr>
          <a:lstStyle/>
          <a:p>
            <a:pPr marL="0" marR="0" lvl="0" indent="0" algn="ctr" rtl="0">
              <a:lnSpc>
                <a:spcPct val="119979"/>
              </a:lnSpc>
              <a:spcBef>
                <a:spcPts val="0"/>
              </a:spcBef>
              <a:spcAft>
                <a:spcPts val="0"/>
              </a:spcAft>
              <a:buNone/>
            </a:pPr>
            <a:r>
              <a:rPr lang="en-US" sz="4800" b="1" i="0" u="none" strike="noStrike" cap="none">
                <a:solidFill>
                  <a:srgbClr val="0F172A"/>
                </a:solidFill>
                <a:latin typeface="Times New Roman"/>
                <a:ea typeface="Times New Roman"/>
                <a:cs typeface="Times New Roman"/>
                <a:sym typeface="Times New Roman"/>
              </a:rPr>
              <a:t>Feature Engineering on</a:t>
            </a:r>
            <a:endParaRPr>
              <a:latin typeface="Times New Roman"/>
              <a:ea typeface="Times New Roman"/>
              <a:cs typeface="Times New Roman"/>
              <a:sym typeface="Times New Roman"/>
            </a:endParaRPr>
          </a:p>
        </p:txBody>
      </p:sp>
      <p:sp>
        <p:nvSpPr>
          <p:cNvPr id="278" name="Google Shape;278;p13"/>
          <p:cNvSpPr txBox="1"/>
          <p:nvPr/>
        </p:nvSpPr>
        <p:spPr>
          <a:xfrm>
            <a:off x="2210514" y="3055590"/>
            <a:ext cx="7770900" cy="738900"/>
          </a:xfrm>
          <a:prstGeom prst="rect">
            <a:avLst/>
          </a:prstGeom>
          <a:noFill/>
          <a:ln>
            <a:noFill/>
          </a:ln>
        </p:spPr>
        <p:txBody>
          <a:bodyPr spcFirstLastPara="1" wrap="square" lIns="0" tIns="0" rIns="0" bIns="0" anchor="t" anchorCtr="0">
            <a:spAutoFit/>
          </a:bodyPr>
          <a:lstStyle/>
          <a:p>
            <a:pPr marL="0" marR="0" lvl="0" indent="0" algn="ctr" rtl="0">
              <a:lnSpc>
                <a:spcPct val="119979"/>
              </a:lnSpc>
              <a:spcBef>
                <a:spcPts val="0"/>
              </a:spcBef>
              <a:spcAft>
                <a:spcPts val="0"/>
              </a:spcAft>
              <a:buNone/>
            </a:pPr>
            <a:r>
              <a:rPr lang="en-US" sz="4800" b="1" i="0" u="none" strike="noStrike" cap="none">
                <a:solidFill>
                  <a:srgbClr val="0F172A"/>
                </a:solidFill>
                <a:latin typeface="Times New Roman"/>
                <a:ea typeface="Times New Roman"/>
                <a:cs typeface="Times New Roman"/>
                <a:sym typeface="Times New Roman"/>
              </a:rPr>
              <a:t>Healthcare Patient Records</a:t>
            </a:r>
            <a:endParaRPr>
              <a:latin typeface="Times New Roman"/>
              <a:ea typeface="Times New Roman"/>
              <a:cs typeface="Times New Roman"/>
              <a:sym typeface="Times New Roman"/>
            </a:endParaRPr>
          </a:p>
        </p:txBody>
      </p:sp>
      <p:sp>
        <p:nvSpPr>
          <p:cNvPr id="279" name="Google Shape;279;p13"/>
          <p:cNvSpPr txBox="1"/>
          <p:nvPr/>
        </p:nvSpPr>
        <p:spPr>
          <a:xfrm>
            <a:off x="2395537" y="3977580"/>
            <a:ext cx="7401000" cy="27720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i="0" u="none" strike="noStrike" cap="none">
                <a:solidFill>
                  <a:srgbClr val="475569"/>
                </a:solidFill>
                <a:latin typeface="Times New Roman"/>
                <a:ea typeface="Times New Roman"/>
                <a:cs typeface="Times New Roman"/>
                <a:sym typeface="Times New Roman"/>
              </a:rPr>
              <a:t>A Project on Data Cleaning, Modeling, and Heart Disease Prediction</a:t>
            </a:r>
            <a:endParaRPr>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BBB475B4-7610-7F99-0456-0C5EBE1AAE0F}"/>
              </a:ext>
            </a:extLst>
          </p:cNvPr>
          <p:cNvSpPr txBox="1"/>
          <p:nvPr/>
        </p:nvSpPr>
        <p:spPr>
          <a:xfrm>
            <a:off x="6714124" y="5530645"/>
            <a:ext cx="5407742" cy="33855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Presented by -  Amreen Haque Ansari</a:t>
            </a:r>
            <a:endParaRPr lang="en-IN" sz="1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4"/>
          <p:cNvSpPr txBox="1"/>
          <p:nvPr/>
        </p:nvSpPr>
        <p:spPr>
          <a:xfrm>
            <a:off x="571500" y="1504950"/>
            <a:ext cx="5550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Times New Roman"/>
                <a:ea typeface="Times New Roman"/>
                <a:cs typeface="Times New Roman"/>
                <a:sym typeface="Times New Roman"/>
              </a:rPr>
              <a:t>Project Objectives</a:t>
            </a:r>
            <a:endParaRPr>
              <a:latin typeface="Times New Roman"/>
              <a:ea typeface="Times New Roman"/>
              <a:cs typeface="Times New Roman"/>
              <a:sym typeface="Times New Roman"/>
            </a:endParaRPr>
          </a:p>
        </p:txBody>
      </p:sp>
      <p:pic>
        <p:nvPicPr>
          <p:cNvPr id="285" name="Google Shape;285;p14" descr="image.png"/>
          <p:cNvPicPr preferRelativeResize="0"/>
          <p:nvPr/>
        </p:nvPicPr>
        <p:blipFill rotWithShape="1">
          <a:blip r:embed="rId3">
            <a:alphaModFix/>
          </a:blip>
          <a:srcRect/>
          <a:stretch/>
        </p:blipFill>
        <p:spPr>
          <a:xfrm>
            <a:off x="6334125" y="0"/>
            <a:ext cx="5857875" cy="6858000"/>
          </a:xfrm>
          <a:prstGeom prst="rect">
            <a:avLst/>
          </a:prstGeom>
          <a:noFill/>
          <a:ln>
            <a:noFill/>
          </a:ln>
        </p:spPr>
      </p:pic>
      <p:sp>
        <p:nvSpPr>
          <p:cNvPr id="286" name="Google Shape;286;p14"/>
          <p:cNvSpPr txBox="1"/>
          <p:nvPr/>
        </p:nvSpPr>
        <p:spPr>
          <a:xfrm>
            <a:off x="904875" y="2495550"/>
            <a:ext cx="4953000" cy="231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Clean and preprocess the sparse UCI Heart Disease dataset.</a:t>
            </a:r>
            <a:endParaRPr>
              <a:latin typeface="Times New Roman"/>
              <a:ea typeface="Times New Roman"/>
              <a:cs typeface="Times New Roman"/>
              <a:sym typeface="Times New Roman"/>
            </a:endParaRPr>
          </a:p>
        </p:txBody>
      </p:sp>
      <p:sp>
        <p:nvSpPr>
          <p:cNvPr id="287" name="Google Shape;287;p14"/>
          <p:cNvSpPr txBox="1"/>
          <p:nvPr/>
        </p:nvSpPr>
        <p:spPr>
          <a:xfrm>
            <a:off x="904875" y="3248025"/>
            <a:ext cx="49530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Engineer a binary target variable ('disease' vs. 'no disease') from multi-class data.</a:t>
            </a:r>
            <a:endParaRPr>
              <a:latin typeface="Times New Roman"/>
              <a:ea typeface="Times New Roman"/>
              <a:cs typeface="Times New Roman"/>
              <a:sym typeface="Times New Roman"/>
            </a:endParaRPr>
          </a:p>
        </p:txBody>
      </p:sp>
      <p:sp>
        <p:nvSpPr>
          <p:cNvPr id="288" name="Google Shape;288;p14"/>
          <p:cNvSpPr txBox="1"/>
          <p:nvPr/>
        </p:nvSpPr>
        <p:spPr>
          <a:xfrm>
            <a:off x="904875" y="4000500"/>
            <a:ext cx="4953000" cy="231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Build and evaluate two predictive models for heart disease.</a:t>
            </a:r>
            <a:endParaRPr>
              <a:latin typeface="Times New Roman"/>
              <a:ea typeface="Times New Roman"/>
              <a:cs typeface="Times New Roman"/>
              <a:sym typeface="Times New Roman"/>
            </a:endParaRPr>
          </a:p>
        </p:txBody>
      </p:sp>
      <p:sp>
        <p:nvSpPr>
          <p:cNvPr id="289" name="Google Shape;289;p14"/>
          <p:cNvSpPr txBox="1"/>
          <p:nvPr/>
        </p:nvSpPr>
        <p:spPr>
          <a:xfrm>
            <a:off x="904875" y="4448175"/>
            <a:ext cx="49530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Compare the performance of Logistic Regression and a tuned Random Forest.</a:t>
            </a:r>
            <a:endParaRPr>
              <a:latin typeface="Times New Roman"/>
              <a:ea typeface="Times New Roman"/>
              <a:cs typeface="Times New Roman"/>
              <a:sym typeface="Times New Roman"/>
            </a:endParaRPr>
          </a:p>
        </p:txBody>
      </p:sp>
      <p:sp>
        <p:nvSpPr>
          <p:cNvPr id="290" name="Google Shape;290;p14"/>
          <p:cNvSpPr txBox="1"/>
          <p:nvPr/>
        </p:nvSpPr>
        <p:spPr>
          <a:xfrm>
            <a:off x="571500" y="2495550"/>
            <a:ext cx="22860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0B981"/>
                </a:solidFill>
                <a:latin typeface="Urbanist"/>
                <a:ea typeface="Urbanist"/>
                <a:cs typeface="Urbanist"/>
                <a:sym typeface="Urbanist"/>
              </a:rPr>
              <a:t>✓</a:t>
            </a:r>
            <a:endParaRPr/>
          </a:p>
        </p:txBody>
      </p:sp>
      <p:sp>
        <p:nvSpPr>
          <p:cNvPr id="291" name="Google Shape;291;p14"/>
          <p:cNvSpPr txBox="1"/>
          <p:nvPr/>
        </p:nvSpPr>
        <p:spPr>
          <a:xfrm>
            <a:off x="571500" y="3248025"/>
            <a:ext cx="22860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0B981"/>
                </a:solidFill>
                <a:latin typeface="Urbanist"/>
                <a:ea typeface="Urbanist"/>
                <a:cs typeface="Urbanist"/>
                <a:sym typeface="Urbanist"/>
              </a:rPr>
              <a:t>✓</a:t>
            </a:r>
            <a:endParaRPr/>
          </a:p>
        </p:txBody>
      </p:sp>
      <p:sp>
        <p:nvSpPr>
          <p:cNvPr id="292" name="Google Shape;292;p14"/>
          <p:cNvSpPr txBox="1"/>
          <p:nvPr/>
        </p:nvSpPr>
        <p:spPr>
          <a:xfrm>
            <a:off x="571500" y="4000500"/>
            <a:ext cx="22860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0B981"/>
                </a:solidFill>
                <a:latin typeface="Urbanist"/>
                <a:ea typeface="Urbanist"/>
                <a:cs typeface="Urbanist"/>
                <a:sym typeface="Urbanist"/>
              </a:rPr>
              <a:t>✓</a:t>
            </a:r>
            <a:endParaRPr/>
          </a:p>
        </p:txBody>
      </p:sp>
      <p:sp>
        <p:nvSpPr>
          <p:cNvPr id="293" name="Google Shape;293;p14"/>
          <p:cNvSpPr txBox="1"/>
          <p:nvPr/>
        </p:nvSpPr>
        <p:spPr>
          <a:xfrm>
            <a:off x="571500" y="4448175"/>
            <a:ext cx="228600" cy="36195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10B981"/>
                </a:solidFill>
                <a:latin typeface="Urbanist"/>
                <a:ea typeface="Urbanist"/>
                <a:cs typeface="Urbanist"/>
                <a:sym typeface="Urbanist"/>
              </a:rPr>
              <a:t>✓</a:t>
            </a:r>
            <a:endParaRPr/>
          </a:p>
        </p:txBody>
      </p:sp>
      <p:pic>
        <p:nvPicPr>
          <p:cNvPr id="294" name="Google Shape;294;p14"/>
          <p:cNvPicPr preferRelativeResize="0"/>
          <p:nvPr/>
        </p:nvPicPr>
        <p:blipFill>
          <a:blip r:embed="rId4">
            <a:alphaModFix/>
          </a:blip>
          <a:stretch>
            <a:fillRect/>
          </a:stretch>
        </p:blipFill>
        <p:spPr>
          <a:xfrm>
            <a:off x="6046030" y="-20845"/>
            <a:ext cx="6141174" cy="68579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15"/>
          <p:cNvSpPr txBox="1"/>
          <p:nvPr/>
        </p:nvSpPr>
        <p:spPr>
          <a:xfrm>
            <a:off x="571500" y="1966019"/>
            <a:ext cx="110490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The dataset contained 920 patient records, but analysis revealed significant data sparsity. Columns critical for prediction were missing over 50% of their data, making imputation essential.</a:t>
            </a:r>
            <a:endParaRPr>
              <a:latin typeface="Times New Roman"/>
              <a:ea typeface="Times New Roman"/>
              <a:cs typeface="Times New Roman"/>
              <a:sym typeface="Times New Roman"/>
            </a:endParaRPr>
          </a:p>
        </p:txBody>
      </p:sp>
      <p:graphicFrame>
        <p:nvGraphicFramePr>
          <p:cNvPr id="300" name="Google Shape;300;p15"/>
          <p:cNvGraphicFramePr/>
          <p:nvPr/>
        </p:nvGraphicFramePr>
        <p:xfrm>
          <a:off x="571500" y="2766119"/>
          <a:ext cx="11049000" cy="3154500"/>
        </p:xfrm>
        <a:graphic>
          <a:graphicData uri="http://schemas.openxmlformats.org/drawingml/2006/table">
            <a:tbl>
              <a:tblPr firstRow="1" bandRow="1">
                <a:noFill/>
                <a:tableStyleId>{9E975E43-AA05-4433-BC00-0430138F298D}</a:tableStyleId>
              </a:tblPr>
              <a:tblGrid>
                <a:gridCol w="2980575">
                  <a:extLst>
                    <a:ext uri="{9D8B030D-6E8A-4147-A177-3AD203B41FA5}">
                      <a16:colId xmlns:a16="http://schemas.microsoft.com/office/drawing/2014/main" val="20000"/>
                    </a:ext>
                  </a:extLst>
                </a:gridCol>
                <a:gridCol w="4522300">
                  <a:extLst>
                    <a:ext uri="{9D8B030D-6E8A-4147-A177-3AD203B41FA5}">
                      <a16:colId xmlns:a16="http://schemas.microsoft.com/office/drawing/2014/main" val="20001"/>
                    </a:ext>
                  </a:extLst>
                </a:gridCol>
                <a:gridCol w="3546125">
                  <a:extLst>
                    <a:ext uri="{9D8B030D-6E8A-4147-A177-3AD203B41FA5}">
                      <a16:colId xmlns:a16="http://schemas.microsoft.com/office/drawing/2014/main" val="20002"/>
                    </a:ext>
                  </a:extLst>
                </a:gridCol>
              </a:tblGrid>
              <a:tr h="630900">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Feature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Missing Count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 Missing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r h="630900">
                <a:tc>
                  <a:txBody>
                    <a:bodyPr/>
                    <a:lstStyle/>
                    <a:p>
                      <a:pPr marL="0" marR="0" lvl="0" indent="0" algn="l" rtl="0">
                        <a:spcBef>
                          <a:spcPts val="0"/>
                        </a:spcBef>
                        <a:spcAft>
                          <a:spcPts val="0"/>
                        </a:spcAft>
                        <a:buNone/>
                      </a:pPr>
                      <a:r>
                        <a:rPr lang="en-US" sz="1350" b="1" i="0" u="none" strike="noStrike" cap="none">
                          <a:solidFill>
                            <a:srgbClr val="1E293B"/>
                          </a:solidFill>
                          <a:latin typeface="Urbanist"/>
                          <a:ea typeface="Urbanist"/>
                          <a:cs typeface="Urbanist"/>
                          <a:sym typeface="Urbanist"/>
                        </a:rPr>
                        <a:t>ca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611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66.4%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30900">
                <a:tc>
                  <a:txBody>
                    <a:bodyPr/>
                    <a:lstStyle/>
                    <a:p>
                      <a:pPr marL="0" marR="0" lvl="0" indent="0" algn="l" rtl="0">
                        <a:spcBef>
                          <a:spcPts val="0"/>
                        </a:spcBef>
                        <a:spcAft>
                          <a:spcPts val="0"/>
                        </a:spcAft>
                        <a:buNone/>
                      </a:pPr>
                      <a:r>
                        <a:rPr lang="en-US" sz="1350" b="1" i="0" u="none" strike="noStrike" cap="none">
                          <a:solidFill>
                            <a:srgbClr val="1E293B"/>
                          </a:solidFill>
                          <a:latin typeface="Urbanist"/>
                          <a:ea typeface="Urbanist"/>
                          <a:cs typeface="Urbanist"/>
                          <a:sym typeface="Urbanist"/>
                        </a:rPr>
                        <a:t>thal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486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52.8%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30900">
                <a:tc>
                  <a:txBody>
                    <a:bodyPr/>
                    <a:lstStyle/>
                    <a:p>
                      <a:pPr marL="0" marR="0" lvl="0" indent="0" algn="l" rtl="0">
                        <a:spcBef>
                          <a:spcPts val="0"/>
                        </a:spcBef>
                        <a:spcAft>
                          <a:spcPts val="0"/>
                        </a:spcAft>
                        <a:buNone/>
                      </a:pPr>
                      <a:r>
                        <a:rPr lang="en-US" sz="1350" b="1" i="0" u="none" strike="noStrike" cap="none">
                          <a:solidFill>
                            <a:srgbClr val="1E293B"/>
                          </a:solidFill>
                          <a:latin typeface="Urbanist"/>
                          <a:ea typeface="Urbanist"/>
                          <a:cs typeface="Urbanist"/>
                          <a:sym typeface="Urbanist"/>
                        </a:rPr>
                        <a:t>slope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309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33.6%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30900">
                <a:tc>
                  <a:txBody>
                    <a:bodyPr/>
                    <a:lstStyle/>
                    <a:p>
                      <a:pPr marL="0" marR="0" lvl="0" indent="0" algn="l" rtl="0">
                        <a:spcBef>
                          <a:spcPts val="0"/>
                        </a:spcBef>
                        <a:spcAft>
                          <a:spcPts val="0"/>
                        </a:spcAft>
                        <a:buNone/>
                      </a:pPr>
                      <a:r>
                        <a:rPr lang="en-US" sz="1350" b="1" i="0" u="none" strike="noStrike" cap="none">
                          <a:solidFill>
                            <a:srgbClr val="1E293B"/>
                          </a:solidFill>
                          <a:latin typeface="Urbanist"/>
                          <a:ea typeface="Urbanist"/>
                          <a:cs typeface="Urbanist"/>
                          <a:sym typeface="Urbanist"/>
                        </a:rPr>
                        <a:t>fbs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90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0" i="0" u="none" strike="noStrike" cap="none">
                          <a:solidFill>
                            <a:srgbClr val="334155"/>
                          </a:solidFill>
                          <a:latin typeface="Urbanist"/>
                          <a:ea typeface="Urbanist"/>
                          <a:cs typeface="Urbanist"/>
                          <a:sym typeface="Urbanist"/>
                        </a:rPr>
                        <a:t>9.8%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301" name="Google Shape;301;p15"/>
          <p:cNvSpPr/>
          <p:nvPr/>
        </p:nvSpPr>
        <p:spPr>
          <a:xfrm>
            <a:off x="571500" y="3409057"/>
            <a:ext cx="29805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2" name="Google Shape;302;p15"/>
          <p:cNvSpPr/>
          <p:nvPr/>
        </p:nvSpPr>
        <p:spPr>
          <a:xfrm>
            <a:off x="3552080" y="3409057"/>
            <a:ext cx="45222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3" name="Google Shape;303;p15"/>
          <p:cNvSpPr/>
          <p:nvPr/>
        </p:nvSpPr>
        <p:spPr>
          <a:xfrm>
            <a:off x="8074372" y="3409057"/>
            <a:ext cx="354612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4" name="Google Shape;304;p15"/>
          <p:cNvSpPr/>
          <p:nvPr/>
        </p:nvSpPr>
        <p:spPr>
          <a:xfrm>
            <a:off x="571500" y="4035772"/>
            <a:ext cx="29805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5" name="Google Shape;305;p15"/>
          <p:cNvSpPr/>
          <p:nvPr/>
        </p:nvSpPr>
        <p:spPr>
          <a:xfrm>
            <a:off x="3552080" y="4035772"/>
            <a:ext cx="45222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6" name="Google Shape;306;p15"/>
          <p:cNvSpPr/>
          <p:nvPr/>
        </p:nvSpPr>
        <p:spPr>
          <a:xfrm>
            <a:off x="8074372" y="4035772"/>
            <a:ext cx="354612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15"/>
          <p:cNvSpPr/>
          <p:nvPr/>
        </p:nvSpPr>
        <p:spPr>
          <a:xfrm>
            <a:off x="571500" y="4662487"/>
            <a:ext cx="29805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8" name="Google Shape;308;p15"/>
          <p:cNvSpPr/>
          <p:nvPr/>
        </p:nvSpPr>
        <p:spPr>
          <a:xfrm>
            <a:off x="3552080" y="4662487"/>
            <a:ext cx="45222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15"/>
          <p:cNvSpPr/>
          <p:nvPr/>
        </p:nvSpPr>
        <p:spPr>
          <a:xfrm>
            <a:off x="8074372" y="4662487"/>
            <a:ext cx="354612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0" name="Google Shape;310;p15"/>
          <p:cNvSpPr/>
          <p:nvPr/>
        </p:nvSpPr>
        <p:spPr>
          <a:xfrm>
            <a:off x="571500" y="5289202"/>
            <a:ext cx="29805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15"/>
          <p:cNvSpPr/>
          <p:nvPr/>
        </p:nvSpPr>
        <p:spPr>
          <a:xfrm>
            <a:off x="3552080" y="5289202"/>
            <a:ext cx="452229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2" name="Google Shape;312;p15"/>
          <p:cNvSpPr/>
          <p:nvPr/>
        </p:nvSpPr>
        <p:spPr>
          <a:xfrm>
            <a:off x="8074372" y="5289202"/>
            <a:ext cx="354612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3" name="Google Shape;313;p15"/>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Times New Roman"/>
                <a:ea typeface="Times New Roman"/>
                <a:cs typeface="Times New Roman"/>
                <a:sym typeface="Times New Roman"/>
              </a:rPr>
              <a:t>The Raw Dataset: A Key Challenge</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pic>
        <p:nvPicPr>
          <p:cNvPr id="318" name="Google Shape;318;p16" descr="image.png"/>
          <p:cNvPicPr preferRelativeResize="0"/>
          <p:nvPr/>
        </p:nvPicPr>
        <p:blipFill rotWithShape="1">
          <a:blip r:embed="rId3">
            <a:alphaModFix/>
          </a:blip>
          <a:srcRect/>
          <a:stretch/>
        </p:blipFill>
        <p:spPr>
          <a:xfrm>
            <a:off x="571500" y="2019300"/>
            <a:ext cx="3429000" cy="3657600"/>
          </a:xfrm>
          <a:prstGeom prst="rect">
            <a:avLst/>
          </a:prstGeom>
          <a:noFill/>
          <a:ln>
            <a:noFill/>
          </a:ln>
        </p:spPr>
      </p:pic>
      <p:pic>
        <p:nvPicPr>
          <p:cNvPr id="319" name="Google Shape;319;p16" descr="image.png"/>
          <p:cNvPicPr preferRelativeResize="0"/>
          <p:nvPr/>
        </p:nvPicPr>
        <p:blipFill rotWithShape="1">
          <a:blip r:embed="rId4">
            <a:alphaModFix/>
          </a:blip>
          <a:srcRect/>
          <a:stretch/>
        </p:blipFill>
        <p:spPr>
          <a:xfrm>
            <a:off x="4381500" y="2019300"/>
            <a:ext cx="3429000" cy="3657600"/>
          </a:xfrm>
          <a:prstGeom prst="rect">
            <a:avLst/>
          </a:prstGeom>
          <a:noFill/>
          <a:ln>
            <a:noFill/>
          </a:ln>
        </p:spPr>
      </p:pic>
      <p:pic>
        <p:nvPicPr>
          <p:cNvPr id="320" name="Google Shape;320;p16" descr="image.png"/>
          <p:cNvPicPr preferRelativeResize="0"/>
          <p:nvPr/>
        </p:nvPicPr>
        <p:blipFill rotWithShape="1">
          <a:blip r:embed="rId5">
            <a:alphaModFix/>
          </a:blip>
          <a:srcRect/>
          <a:stretch/>
        </p:blipFill>
        <p:spPr>
          <a:xfrm>
            <a:off x="8191500" y="2019300"/>
            <a:ext cx="3429000" cy="3657600"/>
          </a:xfrm>
          <a:prstGeom prst="rect">
            <a:avLst/>
          </a:prstGeom>
          <a:noFill/>
          <a:ln>
            <a:noFill/>
          </a:ln>
        </p:spPr>
      </p:pic>
      <p:sp>
        <p:nvSpPr>
          <p:cNvPr id="321" name="Google Shape;321;p16"/>
          <p:cNvSpPr txBox="1"/>
          <p:nvPr/>
        </p:nvSpPr>
        <p:spPr>
          <a:xfrm>
            <a:off x="1085850" y="3057525"/>
            <a:ext cx="240030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E293B"/>
                </a:solidFill>
                <a:latin typeface="Urbanist"/>
                <a:ea typeface="Urbanist"/>
                <a:cs typeface="Urbanist"/>
                <a:sym typeface="Urbanist"/>
              </a:rPr>
              <a:t>1. Handle Invalid Zeros</a:t>
            </a:r>
            <a:endParaRPr/>
          </a:p>
        </p:txBody>
      </p:sp>
      <p:sp>
        <p:nvSpPr>
          <p:cNvPr id="322" name="Google Shape;322;p16"/>
          <p:cNvSpPr txBox="1"/>
          <p:nvPr/>
        </p:nvSpPr>
        <p:spPr>
          <a:xfrm>
            <a:off x="866775" y="3667125"/>
            <a:ext cx="2838450"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Replaced '0' values in 'trestbps', 'chol', and 'thalch' with NaN, as a value of 0 is clinically impossible for these features.</a:t>
            </a:r>
            <a:endParaRPr/>
          </a:p>
        </p:txBody>
      </p:sp>
      <p:sp>
        <p:nvSpPr>
          <p:cNvPr id="323" name="Google Shape;323;p16"/>
          <p:cNvSpPr txBox="1"/>
          <p:nvPr/>
        </p:nvSpPr>
        <p:spPr>
          <a:xfrm>
            <a:off x="5375910" y="3057525"/>
            <a:ext cx="1440180"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E293B"/>
                </a:solidFill>
                <a:latin typeface="Urbanist"/>
                <a:ea typeface="Urbanist"/>
                <a:cs typeface="Urbanist"/>
                <a:sym typeface="Urbanist"/>
              </a:rPr>
              <a:t>2. Imputation</a:t>
            </a:r>
            <a:endParaRPr/>
          </a:p>
        </p:txBody>
      </p:sp>
      <p:sp>
        <p:nvSpPr>
          <p:cNvPr id="324" name="Google Shape;324;p16"/>
          <p:cNvSpPr txBox="1"/>
          <p:nvPr/>
        </p:nvSpPr>
        <p:spPr>
          <a:xfrm>
            <a:off x="4676775" y="3667125"/>
            <a:ext cx="2838450"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Filled numeric NaN values (like 'ca') with the **median** and categorical NaN values (like 'thal') with the **mode**.</a:t>
            </a:r>
            <a:endParaRPr/>
          </a:p>
        </p:txBody>
      </p:sp>
      <p:sp>
        <p:nvSpPr>
          <p:cNvPr id="325" name="Google Shape;325;p16"/>
          <p:cNvSpPr txBox="1"/>
          <p:nvPr/>
        </p:nvSpPr>
        <p:spPr>
          <a:xfrm>
            <a:off x="9290923" y="3057525"/>
            <a:ext cx="1230153" cy="2762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E293B"/>
                </a:solidFill>
                <a:latin typeface="Urbanist"/>
                <a:ea typeface="Urbanist"/>
                <a:cs typeface="Urbanist"/>
                <a:sym typeface="Urbanist"/>
              </a:rPr>
              <a:t>3. Encoding</a:t>
            </a:r>
            <a:endParaRPr/>
          </a:p>
        </p:txBody>
      </p:sp>
      <p:sp>
        <p:nvSpPr>
          <p:cNvPr id="326" name="Google Shape;326;p16"/>
          <p:cNvSpPr txBox="1"/>
          <p:nvPr/>
        </p:nvSpPr>
        <p:spPr>
          <a:xfrm>
            <a:off x="8486775" y="3667125"/>
            <a:ext cx="2838450" cy="15240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334155"/>
                </a:solidFill>
                <a:latin typeface="Urbanist"/>
                <a:ea typeface="Urbanist"/>
                <a:cs typeface="Urbanist"/>
                <a:sym typeface="Urbanist"/>
              </a:rPr>
              <a:t>Converted all object-type features (e.g., 'sex', 'cp') into numerical values using `LabelEncoder` to prepare them for the models.</a:t>
            </a:r>
            <a:endParaRPr/>
          </a:p>
        </p:txBody>
      </p:sp>
      <p:pic>
        <p:nvPicPr>
          <p:cNvPr id="327" name="Google Shape;327;p16" descr="image.png"/>
          <p:cNvPicPr preferRelativeResize="0"/>
          <p:nvPr/>
        </p:nvPicPr>
        <p:blipFill rotWithShape="1">
          <a:blip r:embed="rId6">
            <a:alphaModFix/>
          </a:blip>
          <a:srcRect/>
          <a:stretch/>
        </p:blipFill>
        <p:spPr>
          <a:xfrm>
            <a:off x="2085975" y="2352675"/>
            <a:ext cx="400050" cy="457200"/>
          </a:xfrm>
          <a:prstGeom prst="rect">
            <a:avLst/>
          </a:prstGeom>
          <a:noFill/>
          <a:ln>
            <a:noFill/>
          </a:ln>
        </p:spPr>
      </p:pic>
      <p:pic>
        <p:nvPicPr>
          <p:cNvPr id="328" name="Google Shape;328;p16" descr="image.png"/>
          <p:cNvPicPr preferRelativeResize="0"/>
          <p:nvPr/>
        </p:nvPicPr>
        <p:blipFill rotWithShape="1">
          <a:blip r:embed="rId7">
            <a:alphaModFix/>
          </a:blip>
          <a:srcRect/>
          <a:stretch/>
        </p:blipFill>
        <p:spPr>
          <a:xfrm>
            <a:off x="5838825" y="2352675"/>
            <a:ext cx="514350" cy="457200"/>
          </a:xfrm>
          <a:prstGeom prst="rect">
            <a:avLst/>
          </a:prstGeom>
          <a:noFill/>
          <a:ln>
            <a:noFill/>
          </a:ln>
        </p:spPr>
      </p:pic>
      <p:pic>
        <p:nvPicPr>
          <p:cNvPr id="329" name="Google Shape;329;p16" descr="image.png"/>
          <p:cNvPicPr preferRelativeResize="0"/>
          <p:nvPr/>
        </p:nvPicPr>
        <p:blipFill rotWithShape="1">
          <a:blip r:embed="rId8">
            <a:alphaModFix/>
          </a:blip>
          <a:srcRect/>
          <a:stretch/>
        </p:blipFill>
        <p:spPr>
          <a:xfrm>
            <a:off x="9620250" y="2352675"/>
            <a:ext cx="571500" cy="457200"/>
          </a:xfrm>
          <a:prstGeom prst="rect">
            <a:avLst/>
          </a:prstGeom>
          <a:noFill/>
          <a:ln>
            <a:noFill/>
          </a:ln>
        </p:spPr>
      </p:pic>
      <p:sp>
        <p:nvSpPr>
          <p:cNvPr id="330" name="Google Shape;330;p16"/>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Times New Roman"/>
                <a:ea typeface="Times New Roman"/>
                <a:cs typeface="Times New Roman"/>
                <a:sym typeface="Times New Roman"/>
              </a:rPr>
              <a:t>Data Cleaning &amp; Preprocessing</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17"/>
          <p:cNvSpPr txBox="1"/>
          <p:nvPr/>
        </p:nvSpPr>
        <p:spPr>
          <a:xfrm>
            <a:off x="1809750" y="2314575"/>
            <a:ext cx="8572500" cy="6003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The original 'num' column (0-4) represented the *degree* of disease. For this classification task, a new binary 'target' was engineered.</a:t>
            </a:r>
            <a:endParaRPr>
              <a:latin typeface="Times New Roman"/>
              <a:ea typeface="Times New Roman"/>
              <a:cs typeface="Times New Roman"/>
              <a:sym typeface="Times New Roman"/>
            </a:endParaRPr>
          </a:p>
        </p:txBody>
      </p:sp>
      <p:sp>
        <p:nvSpPr>
          <p:cNvPr id="336" name="Google Shape;336;p17"/>
          <p:cNvSpPr txBox="1"/>
          <p:nvPr/>
        </p:nvSpPr>
        <p:spPr>
          <a:xfrm>
            <a:off x="762000" y="3400425"/>
            <a:ext cx="4905375" cy="1428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250" b="1" i="0" u="none" strike="noStrike" cap="none">
                <a:solidFill>
                  <a:srgbClr val="10B981"/>
                </a:solidFill>
                <a:latin typeface="Urbanist"/>
                <a:ea typeface="Urbanist"/>
                <a:cs typeface="Urbanist"/>
                <a:sym typeface="Urbanist"/>
              </a:rPr>
              <a:t>0</a:t>
            </a:r>
            <a:endParaRPr/>
          </a:p>
        </p:txBody>
      </p:sp>
      <p:sp>
        <p:nvSpPr>
          <p:cNvPr id="337" name="Google Shape;337;p17"/>
          <p:cNvSpPr txBox="1"/>
          <p:nvPr/>
        </p:nvSpPr>
        <p:spPr>
          <a:xfrm>
            <a:off x="762000" y="4829175"/>
            <a:ext cx="4905375" cy="552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E293B"/>
                </a:solidFill>
                <a:latin typeface="Urbanist"/>
                <a:ea typeface="Urbanist"/>
                <a:cs typeface="Urbanist"/>
                <a:sym typeface="Urbanist"/>
              </a:rPr>
              <a:t>No Disease</a:t>
            </a:r>
            <a:br>
              <a:rPr lang="en-US" sz="1800" b="0" i="0" u="none" strike="noStrike" cap="none">
                <a:solidFill>
                  <a:schemeClr val="dk1"/>
                </a:solidFill>
                <a:latin typeface="Calibri"/>
                <a:ea typeface="Calibri"/>
                <a:cs typeface="Calibri"/>
                <a:sym typeface="Calibri"/>
              </a:rPr>
            </a:br>
            <a:r>
              <a:rPr lang="en-US" sz="1800" b="1" i="0" u="none" strike="noStrike" cap="none">
                <a:solidFill>
                  <a:srgbClr val="1E293B"/>
                </a:solidFill>
                <a:latin typeface="Urbanist"/>
                <a:ea typeface="Urbanist"/>
                <a:cs typeface="Urbanist"/>
                <a:sym typeface="Urbanist"/>
              </a:rPr>
              <a:t> (num == 0)</a:t>
            </a:r>
            <a:endParaRPr/>
          </a:p>
        </p:txBody>
      </p:sp>
      <p:sp>
        <p:nvSpPr>
          <p:cNvPr id="338" name="Google Shape;338;p17"/>
          <p:cNvSpPr txBox="1"/>
          <p:nvPr/>
        </p:nvSpPr>
        <p:spPr>
          <a:xfrm>
            <a:off x="6524625" y="3400425"/>
            <a:ext cx="4905375" cy="1428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250" b="1" i="0" u="none" strike="noStrike" cap="none">
                <a:solidFill>
                  <a:srgbClr val="3B82F6"/>
                </a:solidFill>
                <a:latin typeface="Urbanist"/>
                <a:ea typeface="Urbanist"/>
                <a:cs typeface="Urbanist"/>
                <a:sym typeface="Urbanist"/>
              </a:rPr>
              <a:t>1</a:t>
            </a:r>
            <a:endParaRPr/>
          </a:p>
        </p:txBody>
      </p:sp>
      <p:sp>
        <p:nvSpPr>
          <p:cNvPr id="339" name="Google Shape;339;p17"/>
          <p:cNvSpPr txBox="1"/>
          <p:nvPr/>
        </p:nvSpPr>
        <p:spPr>
          <a:xfrm>
            <a:off x="6524625" y="4829175"/>
            <a:ext cx="4905375" cy="552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1E293B"/>
                </a:solidFill>
                <a:latin typeface="Urbanist"/>
                <a:ea typeface="Urbanist"/>
                <a:cs typeface="Urbanist"/>
                <a:sym typeface="Urbanist"/>
              </a:rPr>
              <a:t>Disease Present</a:t>
            </a:r>
            <a:br>
              <a:rPr lang="en-US" sz="1800" b="0" i="0" u="none" strike="noStrike" cap="none">
                <a:solidFill>
                  <a:schemeClr val="dk1"/>
                </a:solidFill>
                <a:latin typeface="Calibri"/>
                <a:ea typeface="Calibri"/>
                <a:cs typeface="Calibri"/>
                <a:sym typeface="Calibri"/>
              </a:rPr>
            </a:br>
            <a:r>
              <a:rPr lang="en-US" sz="1800" b="1" i="0" u="none" strike="noStrike" cap="none">
                <a:solidFill>
                  <a:srgbClr val="1E293B"/>
                </a:solidFill>
                <a:latin typeface="Urbanist"/>
                <a:ea typeface="Urbanist"/>
                <a:cs typeface="Urbanist"/>
                <a:sym typeface="Urbanist"/>
              </a:rPr>
              <a:t> (num &gt; 0)</a:t>
            </a:r>
            <a:endParaRPr/>
          </a:p>
        </p:txBody>
      </p:sp>
      <p:sp>
        <p:nvSpPr>
          <p:cNvPr id="340" name="Google Shape;340;p17"/>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Times New Roman"/>
                <a:ea typeface="Times New Roman"/>
                <a:cs typeface="Times New Roman"/>
                <a:sym typeface="Times New Roman"/>
              </a:rPr>
              <a:t>Feature Engineering: Creating a Binary Target</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pic>
        <p:nvPicPr>
          <p:cNvPr id="345" name="Google Shape;345;p18" descr="image.png"/>
          <p:cNvPicPr preferRelativeResize="0"/>
          <p:nvPr/>
        </p:nvPicPr>
        <p:blipFill rotWithShape="1">
          <a:blip r:embed="rId3">
            <a:alphaModFix/>
          </a:blip>
          <a:srcRect/>
          <a:stretch/>
        </p:blipFill>
        <p:spPr>
          <a:xfrm>
            <a:off x="571500" y="1409700"/>
            <a:ext cx="11049000" cy="4876800"/>
          </a:xfrm>
          <a:prstGeom prst="rect">
            <a:avLst/>
          </a:prstGeom>
          <a:noFill/>
          <a:ln>
            <a:noFill/>
          </a:ln>
        </p:spPr>
      </p:pic>
      <p:sp>
        <p:nvSpPr>
          <p:cNvPr id="346" name="Google Shape;346;p18"/>
          <p:cNvSpPr txBox="1"/>
          <p:nvPr/>
        </p:nvSpPr>
        <p:spPr>
          <a:xfrm>
            <a:off x="994425" y="4067175"/>
            <a:ext cx="10387500" cy="640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00" i="1" u="none" strike="noStrike" cap="none">
                <a:solidFill>
                  <a:srgbClr val="334155"/>
                </a:solidFill>
                <a:latin typeface="Times New Roman"/>
                <a:ea typeface="Times New Roman"/>
                <a:cs typeface="Times New Roman"/>
                <a:sym typeface="Times New Roman"/>
              </a:rPr>
              <a:t>After engineering, the dataset shows a relatively balanced, though slightly larger, number of patients with heart disease (509) versus no disease (411).</a:t>
            </a:r>
            <a:endParaRPr sz="1500">
              <a:latin typeface="Times New Roman"/>
              <a:ea typeface="Times New Roman"/>
              <a:cs typeface="Times New Roman"/>
              <a:sym typeface="Times New Roman"/>
            </a:endParaRPr>
          </a:p>
        </p:txBody>
      </p:sp>
      <p:sp>
        <p:nvSpPr>
          <p:cNvPr id="347" name="Google Shape;347;p18"/>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Times New Roman"/>
                <a:ea typeface="Times New Roman"/>
                <a:cs typeface="Times New Roman"/>
                <a:sym typeface="Times New Roman"/>
              </a:rPr>
              <a:t>Exploratory Data Analysis: Target Distribution</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9"/>
          <p:cNvSpPr txBox="1"/>
          <p:nvPr/>
        </p:nvSpPr>
        <p:spPr>
          <a:xfrm>
            <a:off x="571500" y="2133600"/>
            <a:ext cx="52863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Exploratory Data Analysis (EDA) provided key insights into the patient data. The boxplots from the notebook revealed clear trends:</a:t>
            </a:r>
            <a:endParaRPr>
              <a:latin typeface="Times New Roman"/>
              <a:ea typeface="Times New Roman"/>
              <a:cs typeface="Times New Roman"/>
              <a:sym typeface="Times New Roman"/>
            </a:endParaRPr>
          </a:p>
        </p:txBody>
      </p:sp>
      <p:sp>
        <p:nvSpPr>
          <p:cNvPr id="353" name="Google Shape;353;p19"/>
          <p:cNvSpPr txBox="1"/>
          <p:nvPr/>
        </p:nvSpPr>
        <p:spPr>
          <a:xfrm>
            <a:off x="571500" y="4791075"/>
            <a:ext cx="52863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These findings confirm that age and cholesterol are important factors in predicting heart disease.</a:t>
            </a:r>
            <a:endParaRPr>
              <a:latin typeface="Times New Roman"/>
              <a:ea typeface="Times New Roman"/>
              <a:cs typeface="Times New Roman"/>
              <a:sym typeface="Times New Roman"/>
            </a:endParaRPr>
          </a:p>
        </p:txBody>
      </p:sp>
      <p:sp>
        <p:nvSpPr>
          <p:cNvPr id="354" name="Google Shape;354;p19"/>
          <p:cNvSpPr txBox="1"/>
          <p:nvPr/>
        </p:nvSpPr>
        <p:spPr>
          <a:xfrm>
            <a:off x="809625" y="3238500"/>
            <a:ext cx="50484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Times New Roman"/>
                <a:ea typeface="Times New Roman"/>
                <a:cs typeface="Times New Roman"/>
                <a:sym typeface="Times New Roman"/>
              </a:rPr>
              <a:t>Age:</a:t>
            </a:r>
            <a:r>
              <a:rPr lang="en-US" sz="1500" i="0" u="none" strike="noStrike" cap="none">
                <a:solidFill>
                  <a:srgbClr val="334155"/>
                </a:solidFill>
                <a:latin typeface="Times New Roman"/>
                <a:ea typeface="Times New Roman"/>
                <a:cs typeface="Times New Roman"/>
                <a:sym typeface="Times New Roman"/>
              </a:rPr>
              <a:t> Patients with heart disease (Target 1) had a higher median age compared to those without the disease.</a:t>
            </a:r>
            <a:endParaRPr>
              <a:latin typeface="Times New Roman"/>
              <a:ea typeface="Times New Roman"/>
              <a:cs typeface="Times New Roman"/>
              <a:sym typeface="Times New Roman"/>
            </a:endParaRPr>
          </a:p>
        </p:txBody>
      </p:sp>
      <p:sp>
        <p:nvSpPr>
          <p:cNvPr id="355" name="Google Shape;355;p19"/>
          <p:cNvSpPr txBox="1"/>
          <p:nvPr/>
        </p:nvSpPr>
        <p:spPr>
          <a:xfrm>
            <a:off x="809625" y="3990975"/>
            <a:ext cx="5048400" cy="60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Times New Roman"/>
                <a:ea typeface="Times New Roman"/>
                <a:cs typeface="Times New Roman"/>
                <a:sym typeface="Times New Roman"/>
              </a:rPr>
              <a:t>Cholesterol:</a:t>
            </a:r>
            <a:r>
              <a:rPr lang="en-US" sz="1500" i="0" u="none" strike="noStrike" cap="none">
                <a:solidFill>
                  <a:srgbClr val="334155"/>
                </a:solidFill>
                <a:latin typeface="Times New Roman"/>
                <a:ea typeface="Times New Roman"/>
                <a:cs typeface="Times New Roman"/>
                <a:sym typeface="Times New Roman"/>
              </a:rPr>
              <a:t> Similarly, patients with heart disease also showed slightly higher median cholesterol levels.</a:t>
            </a:r>
            <a:endParaRPr>
              <a:latin typeface="Times New Roman"/>
              <a:ea typeface="Times New Roman"/>
              <a:cs typeface="Times New Roman"/>
              <a:sym typeface="Times New Roman"/>
            </a:endParaRPr>
          </a:p>
        </p:txBody>
      </p:sp>
      <p:pic>
        <p:nvPicPr>
          <p:cNvPr id="356" name="Google Shape;356;p19" descr="image.png"/>
          <p:cNvPicPr preferRelativeResize="0"/>
          <p:nvPr/>
        </p:nvPicPr>
        <p:blipFill rotWithShape="1">
          <a:blip r:embed="rId3">
            <a:alphaModFix/>
          </a:blip>
          <a:srcRect/>
          <a:stretch/>
        </p:blipFill>
        <p:spPr>
          <a:xfrm>
            <a:off x="6334125" y="1943100"/>
            <a:ext cx="5286375" cy="3810000"/>
          </a:xfrm>
          <a:prstGeom prst="rect">
            <a:avLst/>
          </a:prstGeom>
          <a:noFill/>
          <a:ln>
            <a:noFill/>
          </a:ln>
        </p:spPr>
      </p:pic>
      <p:sp>
        <p:nvSpPr>
          <p:cNvPr id="357" name="Google Shape;357;p19"/>
          <p:cNvSpPr txBox="1"/>
          <p:nvPr/>
        </p:nvSpPr>
        <p:spPr>
          <a:xfrm>
            <a:off x="571500" y="3238500"/>
            <a:ext cx="1905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B82F6"/>
                </a:solidFill>
                <a:latin typeface="Urbanist"/>
                <a:ea typeface="Urbanist"/>
                <a:cs typeface="Urbanist"/>
                <a:sym typeface="Urbanist"/>
              </a:rPr>
              <a:t>→</a:t>
            </a:r>
            <a:endParaRPr/>
          </a:p>
        </p:txBody>
      </p:sp>
      <p:sp>
        <p:nvSpPr>
          <p:cNvPr id="358" name="Google Shape;358;p19"/>
          <p:cNvSpPr txBox="1"/>
          <p:nvPr/>
        </p:nvSpPr>
        <p:spPr>
          <a:xfrm>
            <a:off x="571500" y="3990975"/>
            <a:ext cx="1905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B82F6"/>
                </a:solidFill>
                <a:latin typeface="Urbanist"/>
                <a:ea typeface="Urbanist"/>
                <a:cs typeface="Urbanist"/>
                <a:sym typeface="Urbanist"/>
              </a:rPr>
              <a:t>→</a:t>
            </a:r>
            <a:endParaRPr/>
          </a:p>
        </p:txBody>
      </p:sp>
      <p:sp>
        <p:nvSpPr>
          <p:cNvPr id="359" name="Google Shape;359;p19"/>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Times New Roman"/>
                <a:ea typeface="Times New Roman"/>
                <a:cs typeface="Times New Roman"/>
                <a:sym typeface="Times New Roman"/>
              </a:rPr>
              <a:t>EDA: Age and Cholesterol Analysis</a:t>
            </a:r>
            <a:endParaRPr>
              <a:latin typeface="Times New Roman"/>
              <a:ea typeface="Times New Roman"/>
              <a:cs typeface="Times New Roman"/>
              <a:sym typeface="Times New Roman"/>
            </a:endParaRPr>
          </a:p>
        </p:txBody>
      </p:sp>
      <p:pic>
        <p:nvPicPr>
          <p:cNvPr id="360" name="Google Shape;360;p19"/>
          <p:cNvPicPr preferRelativeResize="0"/>
          <p:nvPr/>
        </p:nvPicPr>
        <p:blipFill>
          <a:blip r:embed="rId4">
            <a:alphaModFix/>
          </a:blip>
          <a:stretch>
            <a:fillRect/>
          </a:stretch>
        </p:blipFill>
        <p:spPr>
          <a:xfrm>
            <a:off x="6012100" y="1725565"/>
            <a:ext cx="6075781" cy="38099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0"/>
          <p:cNvSpPr txBox="1"/>
          <p:nvPr/>
        </p:nvSpPr>
        <p:spPr>
          <a:xfrm>
            <a:off x="6238875" y="3238500"/>
            <a:ext cx="5381700" cy="133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A heatmap was generated to visualize the relationships between all features. This helped identify which factors were most strongly correlated with the 'target' variable, guiding the feature selection and modeling process.</a:t>
            </a:r>
            <a:endParaRPr>
              <a:latin typeface="Times New Roman"/>
              <a:ea typeface="Times New Roman"/>
              <a:cs typeface="Times New Roman"/>
              <a:sym typeface="Times New Roman"/>
            </a:endParaRPr>
          </a:p>
        </p:txBody>
      </p:sp>
      <p:pic>
        <p:nvPicPr>
          <p:cNvPr id="366" name="Google Shape;366;p20" descr="image.png"/>
          <p:cNvPicPr preferRelativeResize="0"/>
          <p:nvPr/>
        </p:nvPicPr>
        <p:blipFill rotWithShape="1">
          <a:blip r:embed="rId3">
            <a:alphaModFix/>
          </a:blip>
          <a:srcRect/>
          <a:stretch/>
        </p:blipFill>
        <p:spPr>
          <a:xfrm>
            <a:off x="1357312" y="1943100"/>
            <a:ext cx="3810000" cy="3810000"/>
          </a:xfrm>
          <a:prstGeom prst="rect">
            <a:avLst/>
          </a:prstGeom>
          <a:noFill/>
          <a:ln>
            <a:noFill/>
          </a:ln>
        </p:spPr>
      </p:pic>
      <p:sp>
        <p:nvSpPr>
          <p:cNvPr id="367" name="Google Shape;367;p20"/>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Times New Roman"/>
                <a:ea typeface="Times New Roman"/>
                <a:cs typeface="Times New Roman"/>
                <a:sym typeface="Times New Roman"/>
              </a:rPr>
              <a:t>EDA: Feature Correlation Heatmap</a:t>
            </a:r>
            <a:endParaRPr>
              <a:latin typeface="Times New Roman"/>
              <a:ea typeface="Times New Roman"/>
              <a:cs typeface="Times New Roman"/>
              <a:sym typeface="Times New Roman"/>
            </a:endParaRPr>
          </a:p>
        </p:txBody>
      </p:sp>
      <p:pic>
        <p:nvPicPr>
          <p:cNvPr id="368" name="Google Shape;368;p20"/>
          <p:cNvPicPr preferRelativeResize="0"/>
          <p:nvPr/>
        </p:nvPicPr>
        <p:blipFill rotWithShape="1">
          <a:blip r:embed="rId4">
            <a:alphaModFix/>
          </a:blip>
          <a:srcRect b="6559"/>
          <a:stretch/>
        </p:blipFill>
        <p:spPr>
          <a:xfrm>
            <a:off x="252400" y="1565700"/>
            <a:ext cx="4914900" cy="45925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21" descr="image.png"/>
          <p:cNvPicPr preferRelativeResize="0"/>
          <p:nvPr/>
        </p:nvPicPr>
        <p:blipFill rotWithShape="1">
          <a:blip r:embed="rId3">
            <a:alphaModFix/>
          </a:blip>
          <a:srcRect/>
          <a:stretch/>
        </p:blipFill>
        <p:spPr>
          <a:xfrm>
            <a:off x="571500" y="2319337"/>
            <a:ext cx="5286375" cy="3057525"/>
          </a:xfrm>
          <a:prstGeom prst="rect">
            <a:avLst/>
          </a:prstGeom>
          <a:noFill/>
          <a:ln>
            <a:noFill/>
          </a:ln>
        </p:spPr>
      </p:pic>
      <p:pic>
        <p:nvPicPr>
          <p:cNvPr id="374" name="Google Shape;374;p21" descr="image.png"/>
          <p:cNvPicPr preferRelativeResize="0"/>
          <p:nvPr/>
        </p:nvPicPr>
        <p:blipFill rotWithShape="1">
          <a:blip r:embed="rId4">
            <a:alphaModFix/>
          </a:blip>
          <a:srcRect/>
          <a:stretch/>
        </p:blipFill>
        <p:spPr>
          <a:xfrm>
            <a:off x="6334125" y="2319337"/>
            <a:ext cx="5286375" cy="3057525"/>
          </a:xfrm>
          <a:prstGeom prst="rect">
            <a:avLst/>
          </a:prstGeom>
          <a:noFill/>
          <a:ln>
            <a:noFill/>
          </a:ln>
        </p:spPr>
      </p:pic>
      <p:sp>
        <p:nvSpPr>
          <p:cNvPr id="375" name="Google Shape;375;p21"/>
          <p:cNvSpPr txBox="1"/>
          <p:nvPr/>
        </p:nvSpPr>
        <p:spPr>
          <a:xfrm>
            <a:off x="962025" y="2709862"/>
            <a:ext cx="4730591"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3B82F6"/>
                </a:solidFill>
                <a:latin typeface="Urbanist"/>
                <a:ea typeface="Urbanist"/>
                <a:cs typeface="Urbanist"/>
                <a:sym typeface="Urbanist"/>
              </a:rPr>
              <a:t>1. Train-Test Split</a:t>
            </a:r>
            <a:endParaRPr/>
          </a:p>
        </p:txBody>
      </p:sp>
      <p:sp>
        <p:nvSpPr>
          <p:cNvPr id="376" name="Google Shape;376;p21"/>
          <p:cNvSpPr txBox="1"/>
          <p:nvPr/>
        </p:nvSpPr>
        <p:spPr>
          <a:xfrm>
            <a:off x="962025" y="3262312"/>
            <a:ext cx="4505400" cy="133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The cleaned data was split into an </a:t>
            </a:r>
            <a:r>
              <a:rPr lang="en-US" sz="1500" b="1" i="0" u="none" strike="noStrike" cap="none">
                <a:solidFill>
                  <a:srgbClr val="334155"/>
                </a:solidFill>
                <a:latin typeface="Times New Roman"/>
                <a:ea typeface="Times New Roman"/>
                <a:cs typeface="Times New Roman"/>
                <a:sym typeface="Times New Roman"/>
              </a:rPr>
              <a:t>80% training set</a:t>
            </a:r>
            <a:r>
              <a:rPr lang="en-US" sz="1500" i="0" u="none" strike="noStrike" cap="none">
                <a:solidFill>
                  <a:srgbClr val="334155"/>
                </a:solidFill>
                <a:latin typeface="Times New Roman"/>
                <a:ea typeface="Times New Roman"/>
                <a:cs typeface="Times New Roman"/>
                <a:sym typeface="Times New Roman"/>
              </a:rPr>
              <a:t> (for teaching the models) and a </a:t>
            </a:r>
            <a:r>
              <a:rPr lang="en-US" sz="1500" b="1" i="0" u="none" strike="noStrike" cap="none">
                <a:solidFill>
                  <a:srgbClr val="334155"/>
                </a:solidFill>
                <a:latin typeface="Times New Roman"/>
                <a:ea typeface="Times New Roman"/>
                <a:cs typeface="Times New Roman"/>
                <a:sym typeface="Times New Roman"/>
              </a:rPr>
              <a:t>20% testing set</a:t>
            </a:r>
            <a:r>
              <a:rPr lang="en-US" sz="1500" i="0" u="none" strike="noStrike" cap="none">
                <a:solidFill>
                  <a:srgbClr val="334155"/>
                </a:solidFill>
                <a:latin typeface="Times New Roman"/>
                <a:ea typeface="Times New Roman"/>
                <a:cs typeface="Times New Roman"/>
                <a:sym typeface="Times New Roman"/>
              </a:rPr>
              <a:t> (for evaluation). The split was stratified to ensure both sets had the same ratio of 'disease' to 'no disease' cases.</a:t>
            </a:r>
            <a:endParaRPr>
              <a:latin typeface="Times New Roman"/>
              <a:ea typeface="Times New Roman"/>
              <a:cs typeface="Times New Roman"/>
              <a:sym typeface="Times New Roman"/>
            </a:endParaRPr>
          </a:p>
        </p:txBody>
      </p:sp>
      <p:sp>
        <p:nvSpPr>
          <p:cNvPr id="377" name="Google Shape;377;p21"/>
          <p:cNvSpPr txBox="1"/>
          <p:nvPr/>
        </p:nvSpPr>
        <p:spPr>
          <a:xfrm>
            <a:off x="6724650" y="2709862"/>
            <a:ext cx="4730591"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3B82F6"/>
                </a:solidFill>
                <a:latin typeface="Urbanist"/>
                <a:ea typeface="Urbanist"/>
                <a:cs typeface="Urbanist"/>
                <a:sym typeface="Urbanist"/>
              </a:rPr>
              <a:t>2. Feature Scaling</a:t>
            </a:r>
            <a:endParaRPr/>
          </a:p>
        </p:txBody>
      </p:sp>
      <p:sp>
        <p:nvSpPr>
          <p:cNvPr id="378" name="Google Shape;378;p21"/>
          <p:cNvSpPr txBox="1"/>
          <p:nvPr/>
        </p:nvSpPr>
        <p:spPr>
          <a:xfrm>
            <a:off x="6724650" y="3262312"/>
            <a:ext cx="4505400" cy="1339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StandardScaler was applied to all features. This process normalizes the data, giving each feature a mean of 0 and a standard deviation of 1. This is crucial for models like Logistic Regression to perform accurately and fairly.</a:t>
            </a:r>
            <a:endParaRPr>
              <a:latin typeface="Times New Roman"/>
              <a:ea typeface="Times New Roman"/>
              <a:cs typeface="Times New Roman"/>
              <a:sym typeface="Times New Roman"/>
            </a:endParaRPr>
          </a:p>
        </p:txBody>
      </p:sp>
      <p:sp>
        <p:nvSpPr>
          <p:cNvPr id="379" name="Google Shape;379;p21"/>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Times New Roman"/>
                <a:ea typeface="Times New Roman"/>
                <a:cs typeface="Times New Roman"/>
                <a:sym typeface="Times New Roman"/>
              </a:rPr>
              <a:t>Model Preparation</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22"/>
          <p:cNvSpPr txBox="1"/>
          <p:nvPr/>
        </p:nvSpPr>
        <p:spPr>
          <a:xfrm>
            <a:off x="571500" y="2126009"/>
            <a:ext cx="8829600" cy="231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A baseline Logistic Regression model was trained on the scaled data. It achieved a strong initial accuracy.</a:t>
            </a:r>
            <a:endParaRPr>
              <a:latin typeface="Times New Roman"/>
              <a:ea typeface="Times New Roman"/>
              <a:cs typeface="Times New Roman"/>
              <a:sym typeface="Times New Roman"/>
            </a:endParaRPr>
          </a:p>
        </p:txBody>
      </p:sp>
      <p:sp>
        <p:nvSpPr>
          <p:cNvPr id="385" name="Google Shape;385;p22"/>
          <p:cNvSpPr txBox="1"/>
          <p:nvPr/>
        </p:nvSpPr>
        <p:spPr>
          <a:xfrm>
            <a:off x="4481512" y="2621309"/>
            <a:ext cx="3390423"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i="0" u="none" strike="noStrike" cap="none">
                <a:solidFill>
                  <a:srgbClr val="1E293B"/>
                </a:solidFill>
                <a:latin typeface="Urbanist"/>
                <a:ea typeface="Urbanist"/>
                <a:cs typeface="Urbanist"/>
                <a:sym typeface="Urbanist"/>
              </a:rPr>
              <a:t>Test Accuracy: </a:t>
            </a:r>
            <a:r>
              <a:rPr lang="en-US" sz="2700" b="1" i="0" u="none" strike="noStrike" cap="none">
                <a:solidFill>
                  <a:srgbClr val="10B981"/>
                </a:solidFill>
                <a:latin typeface="Urbanist"/>
                <a:ea typeface="Urbanist"/>
                <a:cs typeface="Urbanist"/>
                <a:sym typeface="Urbanist"/>
              </a:rPr>
              <a:t>79.3%</a:t>
            </a:r>
            <a:endParaRPr/>
          </a:p>
        </p:txBody>
      </p:sp>
      <p:sp>
        <p:nvSpPr>
          <p:cNvPr id="386" name="Google Shape;386;p22"/>
          <p:cNvSpPr txBox="1"/>
          <p:nvPr/>
        </p:nvSpPr>
        <p:spPr>
          <a:xfrm>
            <a:off x="571500" y="3364259"/>
            <a:ext cx="153352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34155"/>
                </a:solidFill>
                <a:latin typeface="Urbanist"/>
                <a:ea typeface="Urbanist"/>
                <a:cs typeface="Urbanist"/>
                <a:sym typeface="Urbanist"/>
              </a:rPr>
              <a:t>Confusion Matrix:</a:t>
            </a:r>
            <a:endParaRPr/>
          </a:p>
        </p:txBody>
      </p:sp>
      <p:graphicFrame>
        <p:nvGraphicFramePr>
          <p:cNvPr id="387" name="Google Shape;387;p22"/>
          <p:cNvGraphicFramePr/>
          <p:nvPr/>
        </p:nvGraphicFramePr>
        <p:xfrm>
          <a:off x="571500" y="3859559"/>
          <a:ext cx="11049000" cy="1901100"/>
        </p:xfrm>
        <a:graphic>
          <a:graphicData uri="http://schemas.openxmlformats.org/drawingml/2006/table">
            <a:tbl>
              <a:tblPr firstRow="1" bandRow="1">
                <a:noFill/>
                <a:tableStyleId>{9E975E43-AA05-4433-BC00-0430138F298D}</a:tableStyleId>
              </a:tblPr>
              <a:tblGrid>
                <a:gridCol w="3360100">
                  <a:extLst>
                    <a:ext uri="{9D8B030D-6E8A-4147-A177-3AD203B41FA5}">
                      <a16:colId xmlns:a16="http://schemas.microsoft.com/office/drawing/2014/main" val="20000"/>
                    </a:ext>
                  </a:extLst>
                </a:gridCol>
                <a:gridCol w="4101700">
                  <a:extLst>
                    <a:ext uri="{9D8B030D-6E8A-4147-A177-3AD203B41FA5}">
                      <a16:colId xmlns:a16="http://schemas.microsoft.com/office/drawing/2014/main" val="20001"/>
                    </a:ext>
                  </a:extLst>
                </a:gridCol>
                <a:gridCol w="3587200">
                  <a:extLst>
                    <a:ext uri="{9D8B030D-6E8A-4147-A177-3AD203B41FA5}">
                      <a16:colId xmlns:a16="http://schemas.microsoft.com/office/drawing/2014/main" val="20002"/>
                    </a:ext>
                  </a:extLst>
                </a:gridCol>
              </a:tblGrid>
              <a:tr h="633700">
                <a:tc>
                  <a:txBody>
                    <a:bodyPr/>
                    <a:lstStyle/>
                    <a:p>
                      <a:pPr marL="0" marR="0" lvl="0" indent="0" algn="l" rtl="0">
                        <a:spcBef>
                          <a:spcPts val="0"/>
                        </a:spcBef>
                        <a:spcAft>
                          <a:spcPts val="0"/>
                        </a:spcAft>
                        <a:buNone/>
                      </a:pPr>
                      <a:endParaRPr sz="1800" u="none" strike="noStrike" cap="none">
                        <a:solidFill>
                          <a:schemeClr val="dk1"/>
                        </a:solidFill>
                        <a:latin typeface="Calibri"/>
                        <a:ea typeface="Calibri"/>
                        <a:cs typeface="Calibri"/>
                        <a:sym typeface="Calibri"/>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Predicted No Disease (0)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500" b="1" i="0" u="none" strike="noStrike" cap="none">
                          <a:solidFill>
                            <a:srgbClr val="334155"/>
                          </a:solidFill>
                          <a:latin typeface="Urbanist"/>
                          <a:ea typeface="Urbanist"/>
                          <a:cs typeface="Urbanist"/>
                          <a:sym typeface="Urbanist"/>
                        </a:rPr>
                        <a:t>Predicted Disease (1)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0"/>
                  </a:ext>
                </a:extLst>
              </a:tr>
              <a:tr h="633700">
                <a:tc>
                  <a:txBody>
                    <a:bodyPr/>
                    <a:lstStyle/>
                    <a:p>
                      <a:pPr marL="0" marR="0" lvl="0" indent="0" algn="l" rtl="0">
                        <a:spcBef>
                          <a:spcPts val="0"/>
                        </a:spcBef>
                        <a:spcAft>
                          <a:spcPts val="0"/>
                        </a:spcAft>
                        <a:buNone/>
                      </a:pPr>
                      <a:r>
                        <a:rPr lang="en-US" sz="1350" b="1" i="0" u="none" strike="noStrike" cap="none">
                          <a:solidFill>
                            <a:srgbClr val="1E293B"/>
                          </a:solidFill>
                          <a:latin typeface="Urbanist"/>
                          <a:ea typeface="Urbanist"/>
                          <a:cs typeface="Urbanist"/>
                          <a:sym typeface="Urbanist"/>
                        </a:rPr>
                        <a:t>Actual No Disease (0)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1" i="0" u="none" strike="noStrike" cap="none">
                          <a:solidFill>
                            <a:srgbClr val="15803D"/>
                          </a:solidFill>
                          <a:latin typeface="Urbanist"/>
                          <a:ea typeface="Urbanist"/>
                          <a:cs typeface="Urbanist"/>
                          <a:sym typeface="Urbanist"/>
                        </a:rPr>
                        <a:t>60 (True Negative)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0FDF4"/>
                    </a:solidFill>
                  </a:tcPr>
                </a:tc>
                <a:tc>
                  <a:txBody>
                    <a:bodyPr/>
                    <a:lstStyle/>
                    <a:p>
                      <a:pPr marL="0" marR="0" lvl="0" indent="0" algn="l" rtl="0">
                        <a:spcBef>
                          <a:spcPts val="0"/>
                        </a:spcBef>
                        <a:spcAft>
                          <a:spcPts val="0"/>
                        </a:spcAft>
                        <a:buNone/>
                      </a:pPr>
                      <a:r>
                        <a:rPr lang="en-US" sz="1350" b="1" i="0" u="none" strike="noStrike" cap="none">
                          <a:solidFill>
                            <a:srgbClr val="B45309"/>
                          </a:solidFill>
                          <a:latin typeface="Urbanist"/>
                          <a:ea typeface="Urbanist"/>
                          <a:cs typeface="Urbanist"/>
                          <a:sym typeface="Urbanist"/>
                        </a:rPr>
                        <a:t>22 (False Positive)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BEB"/>
                    </a:solidFill>
                  </a:tcPr>
                </a:tc>
                <a:extLst>
                  <a:ext uri="{0D108BD9-81ED-4DB2-BD59-A6C34878D82A}">
                    <a16:rowId xmlns:a16="http://schemas.microsoft.com/office/drawing/2014/main" val="10001"/>
                  </a:ext>
                </a:extLst>
              </a:tr>
              <a:tr h="633700">
                <a:tc>
                  <a:txBody>
                    <a:bodyPr/>
                    <a:lstStyle/>
                    <a:p>
                      <a:pPr marL="0" marR="0" lvl="0" indent="0" algn="l" rtl="0">
                        <a:spcBef>
                          <a:spcPts val="0"/>
                        </a:spcBef>
                        <a:spcAft>
                          <a:spcPts val="0"/>
                        </a:spcAft>
                        <a:buNone/>
                      </a:pPr>
                      <a:r>
                        <a:rPr lang="en-US" sz="1350" b="1" i="0" u="none" strike="noStrike" cap="none">
                          <a:solidFill>
                            <a:srgbClr val="1E293B"/>
                          </a:solidFill>
                          <a:latin typeface="Urbanist"/>
                          <a:ea typeface="Urbanist"/>
                          <a:cs typeface="Urbanist"/>
                          <a:sym typeface="Urbanist"/>
                        </a:rPr>
                        <a:t>Actual Disease (1)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350" b="1" i="0" u="none" strike="noStrike" cap="none">
                          <a:solidFill>
                            <a:srgbClr val="B45309"/>
                          </a:solidFill>
                          <a:latin typeface="Urbanist"/>
                          <a:ea typeface="Urbanist"/>
                          <a:cs typeface="Urbanist"/>
                          <a:sym typeface="Urbanist"/>
                        </a:rPr>
                        <a:t>16 (False Negative)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BEB"/>
                    </a:solidFill>
                  </a:tcPr>
                </a:tc>
                <a:tc>
                  <a:txBody>
                    <a:bodyPr/>
                    <a:lstStyle/>
                    <a:p>
                      <a:pPr marL="0" marR="0" lvl="0" indent="0" algn="l" rtl="0">
                        <a:spcBef>
                          <a:spcPts val="0"/>
                        </a:spcBef>
                        <a:spcAft>
                          <a:spcPts val="0"/>
                        </a:spcAft>
                        <a:buNone/>
                      </a:pPr>
                      <a:r>
                        <a:rPr lang="en-US" sz="1350" b="1" i="0" u="none" strike="noStrike" cap="none">
                          <a:solidFill>
                            <a:srgbClr val="15803D"/>
                          </a:solidFill>
                          <a:latin typeface="Urbanist"/>
                          <a:ea typeface="Urbanist"/>
                          <a:cs typeface="Urbanist"/>
                          <a:sym typeface="Urbanist"/>
                        </a:rPr>
                        <a:t>86 (True Positive)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0FDF4"/>
                    </a:solidFill>
                  </a:tcPr>
                </a:tc>
                <a:extLst>
                  <a:ext uri="{0D108BD9-81ED-4DB2-BD59-A6C34878D82A}">
                    <a16:rowId xmlns:a16="http://schemas.microsoft.com/office/drawing/2014/main" val="10002"/>
                  </a:ext>
                </a:extLst>
              </a:tr>
            </a:tbl>
          </a:graphicData>
        </a:graphic>
      </p:graphicFrame>
      <p:sp>
        <p:nvSpPr>
          <p:cNvPr id="388" name="Google Shape;388;p22"/>
          <p:cNvSpPr/>
          <p:nvPr/>
        </p:nvSpPr>
        <p:spPr>
          <a:xfrm>
            <a:off x="571500" y="4502497"/>
            <a:ext cx="336009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9" name="Google Shape;389;p22"/>
          <p:cNvSpPr/>
          <p:nvPr/>
        </p:nvSpPr>
        <p:spPr>
          <a:xfrm>
            <a:off x="3931592" y="4502497"/>
            <a:ext cx="410170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0" name="Google Shape;390;p22"/>
          <p:cNvSpPr/>
          <p:nvPr/>
        </p:nvSpPr>
        <p:spPr>
          <a:xfrm>
            <a:off x="8033295" y="4502497"/>
            <a:ext cx="358720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1" name="Google Shape;391;p22"/>
          <p:cNvSpPr/>
          <p:nvPr/>
        </p:nvSpPr>
        <p:spPr>
          <a:xfrm>
            <a:off x="571500" y="5129212"/>
            <a:ext cx="3360092"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2" name="Google Shape;392;p22"/>
          <p:cNvSpPr/>
          <p:nvPr/>
        </p:nvSpPr>
        <p:spPr>
          <a:xfrm>
            <a:off x="3931592" y="5129212"/>
            <a:ext cx="410170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3" name="Google Shape;393;p22"/>
          <p:cNvSpPr/>
          <p:nvPr/>
        </p:nvSpPr>
        <p:spPr>
          <a:xfrm>
            <a:off x="8033295" y="5129212"/>
            <a:ext cx="358720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4" name="Google Shape;394;p22"/>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Times New Roman"/>
                <a:ea typeface="Times New Roman"/>
                <a:cs typeface="Times New Roman"/>
                <a:sym typeface="Times New Roman"/>
              </a:rPr>
              <a:t>Model 1: Logistic Regression Results</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23"/>
          <p:cNvSpPr txBox="1"/>
          <p:nvPr/>
        </p:nvSpPr>
        <p:spPr>
          <a:xfrm>
            <a:off x="571500" y="1867792"/>
            <a:ext cx="5286300" cy="96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i="0" u="none" strike="noStrike" cap="none">
                <a:solidFill>
                  <a:srgbClr val="334155"/>
                </a:solidFill>
                <a:latin typeface="Times New Roman"/>
                <a:ea typeface="Times New Roman"/>
                <a:cs typeface="Times New Roman"/>
                <a:sym typeface="Times New Roman"/>
              </a:rPr>
              <a:t>To build a more complex model, a Random Forest was tuned using GridSearchCV. This tested 108 parameter combinations to find the best-performing model.</a:t>
            </a:r>
            <a:endParaRPr>
              <a:latin typeface="Times New Roman"/>
              <a:ea typeface="Times New Roman"/>
              <a:cs typeface="Times New Roman"/>
              <a:sym typeface="Times New Roman"/>
            </a:endParaRPr>
          </a:p>
        </p:txBody>
      </p:sp>
      <p:sp>
        <p:nvSpPr>
          <p:cNvPr id="400" name="Google Shape;400;p23"/>
          <p:cNvSpPr txBox="1"/>
          <p:nvPr/>
        </p:nvSpPr>
        <p:spPr>
          <a:xfrm>
            <a:off x="571500" y="2982217"/>
            <a:ext cx="5550693"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1E293B"/>
                </a:solidFill>
                <a:latin typeface="Urbanist"/>
                <a:ea typeface="Urbanist"/>
                <a:cs typeface="Urbanist"/>
                <a:sym typeface="Urbanist"/>
              </a:rPr>
              <a:t>Best Parameters Found:</a:t>
            </a:r>
            <a:endParaRPr/>
          </a:p>
        </p:txBody>
      </p:sp>
      <p:sp>
        <p:nvSpPr>
          <p:cNvPr id="401" name="Google Shape;401;p23"/>
          <p:cNvSpPr txBox="1"/>
          <p:nvPr/>
        </p:nvSpPr>
        <p:spPr>
          <a:xfrm>
            <a:off x="571500" y="5438775"/>
            <a:ext cx="5550693"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0000"/>
                </a:solidFill>
                <a:latin typeface="Urbanist"/>
                <a:ea typeface="Urbanist"/>
                <a:cs typeface="Urbanist"/>
                <a:sym typeface="Urbanist"/>
              </a:rPr>
              <a:t>Best Cross-Validation Accuracy: </a:t>
            </a:r>
            <a:r>
              <a:rPr lang="en-US" sz="1800" b="1" i="0" u="none" strike="noStrike" cap="none">
                <a:solidFill>
                  <a:srgbClr val="10B981"/>
                </a:solidFill>
                <a:latin typeface="Urbanist"/>
                <a:ea typeface="Urbanist"/>
                <a:cs typeface="Urbanist"/>
                <a:sym typeface="Urbanist"/>
              </a:rPr>
              <a:t>81.0%</a:t>
            </a:r>
            <a:endParaRPr/>
          </a:p>
        </p:txBody>
      </p:sp>
      <p:sp>
        <p:nvSpPr>
          <p:cNvPr id="402" name="Google Shape;402;p23"/>
          <p:cNvSpPr txBox="1"/>
          <p:nvPr/>
        </p:nvSpPr>
        <p:spPr>
          <a:xfrm>
            <a:off x="809625" y="3487042"/>
            <a:ext cx="50482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E293B"/>
                </a:solidFill>
                <a:latin typeface="Urbanist"/>
                <a:ea typeface="Urbanist"/>
                <a:cs typeface="Urbanist"/>
                <a:sym typeface="Urbanist"/>
              </a:rPr>
              <a:t>n_estimators:</a:t>
            </a:r>
            <a:r>
              <a:rPr lang="en-US" sz="1500" b="0" i="0" u="none" strike="noStrike" cap="none">
                <a:solidFill>
                  <a:srgbClr val="334155"/>
                </a:solidFill>
                <a:latin typeface="Urbanist"/>
                <a:ea typeface="Urbanist"/>
                <a:cs typeface="Urbanist"/>
                <a:sym typeface="Urbanist"/>
              </a:rPr>
              <a:t> 200</a:t>
            </a:r>
            <a:endParaRPr/>
          </a:p>
        </p:txBody>
      </p:sp>
      <p:sp>
        <p:nvSpPr>
          <p:cNvPr id="403" name="Google Shape;403;p23"/>
          <p:cNvSpPr txBox="1"/>
          <p:nvPr/>
        </p:nvSpPr>
        <p:spPr>
          <a:xfrm>
            <a:off x="809625" y="3934717"/>
            <a:ext cx="50482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E293B"/>
                </a:solidFill>
                <a:latin typeface="Urbanist"/>
                <a:ea typeface="Urbanist"/>
                <a:cs typeface="Urbanist"/>
                <a:sym typeface="Urbanist"/>
              </a:rPr>
              <a:t>max_depth:</a:t>
            </a:r>
            <a:r>
              <a:rPr lang="en-US" sz="1500" b="0" i="0" u="none" strike="noStrike" cap="none">
                <a:solidFill>
                  <a:srgbClr val="334155"/>
                </a:solidFill>
                <a:latin typeface="Urbanist"/>
                <a:ea typeface="Urbanist"/>
                <a:cs typeface="Urbanist"/>
                <a:sym typeface="Urbanist"/>
              </a:rPr>
              <a:t> 10</a:t>
            </a:r>
            <a:endParaRPr/>
          </a:p>
        </p:txBody>
      </p:sp>
      <p:sp>
        <p:nvSpPr>
          <p:cNvPr id="404" name="Google Shape;404;p23"/>
          <p:cNvSpPr txBox="1"/>
          <p:nvPr/>
        </p:nvSpPr>
        <p:spPr>
          <a:xfrm>
            <a:off x="809625" y="4382392"/>
            <a:ext cx="50482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E293B"/>
                </a:solidFill>
                <a:latin typeface="Urbanist"/>
                <a:ea typeface="Urbanist"/>
                <a:cs typeface="Urbanist"/>
                <a:sym typeface="Urbanist"/>
              </a:rPr>
              <a:t>min_samples_leaf:</a:t>
            </a:r>
            <a:r>
              <a:rPr lang="en-US" sz="1500" b="0" i="0" u="none" strike="noStrike" cap="none">
                <a:solidFill>
                  <a:srgbClr val="334155"/>
                </a:solidFill>
                <a:latin typeface="Urbanist"/>
                <a:ea typeface="Urbanist"/>
                <a:cs typeface="Urbanist"/>
                <a:sym typeface="Urbanist"/>
              </a:rPr>
              <a:t> 2</a:t>
            </a:r>
            <a:endParaRPr/>
          </a:p>
        </p:txBody>
      </p:sp>
      <p:sp>
        <p:nvSpPr>
          <p:cNvPr id="405" name="Google Shape;405;p23"/>
          <p:cNvSpPr txBox="1"/>
          <p:nvPr/>
        </p:nvSpPr>
        <p:spPr>
          <a:xfrm>
            <a:off x="809625" y="4830067"/>
            <a:ext cx="504825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1E293B"/>
                </a:solidFill>
                <a:latin typeface="Urbanist"/>
                <a:ea typeface="Urbanist"/>
                <a:cs typeface="Urbanist"/>
                <a:sym typeface="Urbanist"/>
              </a:rPr>
              <a:t>min_samples_split:</a:t>
            </a:r>
            <a:r>
              <a:rPr lang="en-US" sz="1500" b="0" i="0" u="none" strike="noStrike" cap="none">
                <a:solidFill>
                  <a:srgbClr val="334155"/>
                </a:solidFill>
                <a:latin typeface="Urbanist"/>
                <a:ea typeface="Urbanist"/>
                <a:cs typeface="Urbanist"/>
                <a:sym typeface="Urbanist"/>
              </a:rPr>
              <a:t> 5</a:t>
            </a:r>
            <a:endParaRPr/>
          </a:p>
        </p:txBody>
      </p:sp>
      <p:pic>
        <p:nvPicPr>
          <p:cNvPr id="406" name="Google Shape;406;p23" descr="image.png"/>
          <p:cNvPicPr preferRelativeResize="0"/>
          <p:nvPr/>
        </p:nvPicPr>
        <p:blipFill rotWithShape="1">
          <a:blip r:embed="rId3">
            <a:alphaModFix/>
          </a:blip>
          <a:srcRect/>
          <a:stretch/>
        </p:blipFill>
        <p:spPr>
          <a:xfrm>
            <a:off x="6334125" y="1677292"/>
            <a:ext cx="5286375" cy="3810000"/>
          </a:xfrm>
          <a:prstGeom prst="rect">
            <a:avLst/>
          </a:prstGeom>
          <a:noFill/>
          <a:ln>
            <a:noFill/>
          </a:ln>
        </p:spPr>
      </p:pic>
      <p:sp>
        <p:nvSpPr>
          <p:cNvPr id="407" name="Google Shape;407;p23"/>
          <p:cNvSpPr txBox="1"/>
          <p:nvPr/>
        </p:nvSpPr>
        <p:spPr>
          <a:xfrm>
            <a:off x="571500" y="3487042"/>
            <a:ext cx="1905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B82F6"/>
                </a:solidFill>
                <a:latin typeface="Urbanist"/>
                <a:ea typeface="Urbanist"/>
                <a:cs typeface="Urbanist"/>
                <a:sym typeface="Urbanist"/>
              </a:rPr>
              <a:t>→</a:t>
            </a:r>
            <a:endParaRPr/>
          </a:p>
        </p:txBody>
      </p:sp>
      <p:sp>
        <p:nvSpPr>
          <p:cNvPr id="408" name="Google Shape;408;p23"/>
          <p:cNvSpPr txBox="1"/>
          <p:nvPr/>
        </p:nvSpPr>
        <p:spPr>
          <a:xfrm>
            <a:off x="571500" y="3934717"/>
            <a:ext cx="1905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B82F6"/>
                </a:solidFill>
                <a:latin typeface="Urbanist"/>
                <a:ea typeface="Urbanist"/>
                <a:cs typeface="Urbanist"/>
                <a:sym typeface="Urbanist"/>
              </a:rPr>
              <a:t>→</a:t>
            </a:r>
            <a:endParaRPr/>
          </a:p>
        </p:txBody>
      </p:sp>
      <p:sp>
        <p:nvSpPr>
          <p:cNvPr id="409" name="Google Shape;409;p23"/>
          <p:cNvSpPr txBox="1"/>
          <p:nvPr/>
        </p:nvSpPr>
        <p:spPr>
          <a:xfrm>
            <a:off x="571500" y="4382392"/>
            <a:ext cx="1905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B82F6"/>
                </a:solidFill>
                <a:latin typeface="Urbanist"/>
                <a:ea typeface="Urbanist"/>
                <a:cs typeface="Urbanist"/>
                <a:sym typeface="Urbanist"/>
              </a:rPr>
              <a:t>→</a:t>
            </a:r>
            <a:endParaRPr/>
          </a:p>
        </p:txBody>
      </p:sp>
      <p:sp>
        <p:nvSpPr>
          <p:cNvPr id="410" name="Google Shape;410;p23"/>
          <p:cNvSpPr txBox="1"/>
          <p:nvPr/>
        </p:nvSpPr>
        <p:spPr>
          <a:xfrm>
            <a:off x="571500" y="4830067"/>
            <a:ext cx="190500"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a:solidFill>
                  <a:srgbClr val="3B82F6"/>
                </a:solidFill>
                <a:latin typeface="Urbanist"/>
                <a:ea typeface="Urbanist"/>
                <a:cs typeface="Urbanist"/>
                <a:sym typeface="Urbanist"/>
              </a:rPr>
              <a:t>→</a:t>
            </a:r>
            <a:endParaRPr/>
          </a:p>
        </p:txBody>
      </p:sp>
      <p:sp>
        <p:nvSpPr>
          <p:cNvPr id="411" name="Google Shape;411;p23"/>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Times New Roman"/>
                <a:ea typeface="Times New Roman"/>
                <a:cs typeface="Times New Roman"/>
                <a:sym typeface="Times New Roman"/>
              </a:rPr>
              <a:t>Model 2: Random Forest Tuning</a:t>
            </a:r>
            <a:endParaRPr>
              <a:latin typeface="Times New Roman"/>
              <a:ea typeface="Times New Roman"/>
              <a:cs typeface="Times New Roman"/>
              <a:sym typeface="Times New Roman"/>
            </a:endParaRPr>
          </a:p>
        </p:txBody>
      </p:sp>
      <p:pic>
        <p:nvPicPr>
          <p:cNvPr id="412" name="Google Shape;412;p23"/>
          <p:cNvPicPr preferRelativeResize="0"/>
          <p:nvPr/>
        </p:nvPicPr>
        <p:blipFill>
          <a:blip r:embed="rId4">
            <a:alphaModFix/>
          </a:blip>
          <a:stretch>
            <a:fillRect/>
          </a:stretch>
        </p:blipFill>
        <p:spPr>
          <a:xfrm>
            <a:off x="6334125" y="1075325"/>
            <a:ext cx="5286374" cy="47073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p24" descr="image.png"/>
          <p:cNvPicPr preferRelativeResize="0"/>
          <p:nvPr/>
        </p:nvPicPr>
        <p:blipFill rotWithShape="1">
          <a:blip r:embed="rId3">
            <a:alphaModFix/>
          </a:blip>
          <a:srcRect/>
          <a:stretch/>
        </p:blipFill>
        <p:spPr>
          <a:xfrm>
            <a:off x="571500" y="1409700"/>
            <a:ext cx="11049000" cy="4876800"/>
          </a:xfrm>
          <a:prstGeom prst="rect">
            <a:avLst/>
          </a:prstGeom>
          <a:noFill/>
          <a:ln>
            <a:noFill/>
          </a:ln>
        </p:spPr>
      </p:pic>
      <p:sp>
        <p:nvSpPr>
          <p:cNvPr id="418" name="Google Shape;418;p24"/>
          <p:cNvSpPr txBox="1"/>
          <p:nvPr/>
        </p:nvSpPr>
        <p:spPr>
          <a:xfrm>
            <a:off x="886600" y="3914775"/>
            <a:ext cx="10603200" cy="10989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700" i="1" u="none" strike="noStrike" cap="none">
                <a:solidFill>
                  <a:srgbClr val="334155"/>
                </a:solidFill>
                <a:latin typeface="Times New Roman"/>
                <a:ea typeface="Times New Roman"/>
                <a:cs typeface="Times New Roman"/>
                <a:sym typeface="Times New Roman"/>
              </a:rPr>
              <a:t>Both models performed well. The simpler Logistic Regression slightly outperformed the tuned Random Forest on the final test set. This demonstrates the power of clean data and solid feature engineering, which made the linear relationships clear enough for the simpler model to capture effectively.</a:t>
            </a:r>
            <a:endParaRPr sz="1600">
              <a:latin typeface="Times New Roman"/>
              <a:ea typeface="Times New Roman"/>
              <a:cs typeface="Times New Roman"/>
              <a:sym typeface="Times New Roman"/>
            </a:endParaRPr>
          </a:p>
        </p:txBody>
      </p:sp>
      <p:sp>
        <p:nvSpPr>
          <p:cNvPr id="419" name="Google Shape;419;p24"/>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0F172A"/>
                </a:solidFill>
                <a:latin typeface="Times New Roman"/>
                <a:ea typeface="Times New Roman"/>
                <a:cs typeface="Times New Roman"/>
                <a:sym typeface="Times New Roman"/>
              </a:rPr>
              <a:t>Model Comparison &amp; Conclusion</a:t>
            </a:r>
            <a:endParaRPr dirty="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AE560F-CABD-C191-BA52-DED2DC43F62C}"/>
              </a:ext>
            </a:extLst>
          </p:cNvPr>
          <p:cNvSpPr txBox="1"/>
          <p:nvPr/>
        </p:nvSpPr>
        <p:spPr>
          <a:xfrm>
            <a:off x="1710813" y="1784555"/>
            <a:ext cx="7565922" cy="2862322"/>
          </a:xfrm>
          <a:prstGeom prst="rect">
            <a:avLst/>
          </a:prstGeom>
          <a:noFill/>
        </p:spPr>
        <p:txBody>
          <a:bodyPr wrap="square" rtlCol="0">
            <a:spAutoFit/>
          </a:bodyPr>
          <a:lstStyle/>
          <a:p>
            <a:pPr algn="ctr"/>
            <a:endParaRPr lang="en-US" sz="3600" dirty="0">
              <a:latin typeface="Times New Roman" panose="02020603050405020304" pitchFamily="18" charset="0"/>
              <a:cs typeface="Times New Roman" panose="02020603050405020304" pitchFamily="18" charset="0"/>
            </a:endParaRPr>
          </a:p>
          <a:p>
            <a:pPr algn="ctr"/>
            <a:endParaRPr lang="en-US" sz="3600" dirty="0">
              <a:latin typeface="Times New Roman" panose="02020603050405020304" pitchFamily="18" charset="0"/>
              <a:cs typeface="Times New Roman" panose="02020603050405020304" pitchFamily="18" charset="0"/>
            </a:endParaRPr>
          </a:p>
          <a:p>
            <a:pPr algn="ctr"/>
            <a:r>
              <a:rPr lang="en-US" sz="3600" dirty="0">
                <a:latin typeface="Times New Roman" panose="02020603050405020304" pitchFamily="18" charset="0"/>
                <a:cs typeface="Times New Roman" panose="02020603050405020304" pitchFamily="18" charset="0"/>
              </a:rPr>
              <a:t>THANK YOU</a:t>
            </a:r>
          </a:p>
          <a:p>
            <a:pPr algn="ctr"/>
            <a:endParaRPr lang="en-US" sz="3600" dirty="0">
              <a:latin typeface="Times New Roman" panose="02020603050405020304" pitchFamily="18" charset="0"/>
              <a:cs typeface="Times New Roman" panose="02020603050405020304" pitchFamily="18" charset="0"/>
            </a:endParaRPr>
          </a:p>
          <a:p>
            <a:pPr algn="ct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3998780"/>
      </p:ext>
    </p:extLst>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746</Words>
  <Application>Microsoft Office PowerPoint</Application>
  <PresentationFormat>Widescreen</PresentationFormat>
  <Paragraphs>88</Paragraphs>
  <Slides>13</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Calibri</vt:lpstr>
      <vt:lpstr>Urbanist</vt:lpstr>
      <vt:lpstr>Nunito</vt:lpstr>
      <vt:lpstr>Times New Roman</vt:lpstr>
      <vt:lpstr>Maven Pro</vt:lpstr>
      <vt:lpstr>Arial</vt:lpstr>
      <vt:lpstr>Momentum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AMREEN ANSARI</cp:lastModifiedBy>
  <cp:revision>2</cp:revision>
  <dcterms:modified xsi:type="dcterms:W3CDTF">2025-11-13T16:33:40Z</dcterms:modified>
</cp:coreProperties>
</file>